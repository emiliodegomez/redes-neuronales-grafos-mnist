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175f3104c24e7f" /><Relationship Type="http://schemas.openxmlformats.org/officeDocument/2006/relationships/extended-properties" Target="/docProps/app.xml" Id="R94afd8e013f048f9" /><Relationship Type="http://schemas.openxmlformats.org/officeDocument/2006/relationships/officeDocument" Target="/ppt/presentation.xml" Id="Rc2777e016baf40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3ec9b6da9b42f2"/>
  </p:sldMasterIdLst>
  <p:notesMasterIdLst>
    <p:notesMasterId xmlns:r="http://schemas.openxmlformats.org/officeDocument/2006/relationships" r:id="R8b99273eba07432f"/>
  </p:notesMasterIdLst>
  <p:sldIdLst>
    <p:sldId xmlns:r="http://schemas.openxmlformats.org/officeDocument/2006/relationships" id="256" r:id="Ra031e7f57c79468d"/>
    <p:sldId xmlns:r="http://schemas.openxmlformats.org/officeDocument/2006/relationships" id="257" r:id="R6a01b4e8cb7349b0"/>
    <p:sldId xmlns:r="http://schemas.openxmlformats.org/officeDocument/2006/relationships" id="258" r:id="R428e1498044b4ef1"/>
    <p:sldId xmlns:r="http://schemas.openxmlformats.org/officeDocument/2006/relationships" id="259" r:id="R2554ce5d39564eae"/>
    <p:sldId xmlns:r="http://schemas.openxmlformats.org/officeDocument/2006/relationships" id="260" r:id="R6b782f57554244e6"/>
    <p:sldId xmlns:r="http://schemas.openxmlformats.org/officeDocument/2006/relationships" id="261" r:id="R18d759c30f764bcf"/>
    <p:sldId xmlns:r="http://schemas.openxmlformats.org/officeDocument/2006/relationships" id="262" r:id="Reea22092d0d946ec"/>
    <p:sldId xmlns:r="http://schemas.openxmlformats.org/officeDocument/2006/relationships" id="263" r:id="R4764dea1bdad4e02"/>
    <p:sldId xmlns:r="http://schemas.openxmlformats.org/officeDocument/2006/relationships" id="264" r:id="Rb142f34549ef4aa6"/>
    <p:sldId xmlns:r="http://schemas.openxmlformats.org/officeDocument/2006/relationships" id="265" r:id="Rd1617c1e96ea413d"/>
    <p:sldId xmlns:r="http://schemas.openxmlformats.org/officeDocument/2006/relationships" id="266" r:id="R126cf93b78384f7a"/>
    <p:sldId xmlns:r="http://schemas.openxmlformats.org/officeDocument/2006/relationships" id="267" r:id="R29f87048a21f4604"/>
    <p:sldId xmlns:r="http://schemas.openxmlformats.org/officeDocument/2006/relationships" id="268" r:id="R13b54e02035d498e"/>
    <p:sldId xmlns:r="http://schemas.openxmlformats.org/officeDocument/2006/relationships" id="269" r:id="R8a948ba9cd764ab9"/>
    <p:sldId xmlns:r="http://schemas.openxmlformats.org/officeDocument/2006/relationships" id="270" r:id="R7bd4a3b5903343f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7217500918485d" /><Relationship Type="http://schemas.openxmlformats.org/officeDocument/2006/relationships/slideMaster" Target="/ppt/slideMasters/slideMaster1.xml" Id="R683ec9b6da9b42f2" /><Relationship Type="http://schemas.openxmlformats.org/officeDocument/2006/relationships/notesMaster" Target="/ppt/notesMasters/notesMaster1.xml" Id="R8b99273eba07432f" /><Relationship Type="http://schemas.openxmlformats.org/officeDocument/2006/relationships/presProps" Target="/ppt/presProps.xml" Id="R5e579575e6554dfe" /><Relationship Type="http://schemas.openxmlformats.org/officeDocument/2006/relationships/tableStyles" Target="/ppt/tableStyles.xml" Id="Rebde3192d61047d6" /><Relationship Type="http://schemas.openxmlformats.org/officeDocument/2006/relationships/slide" Target="/ppt/slides/slide1.xml" Id="Ra031e7f57c79468d" /><Relationship Type="http://schemas.openxmlformats.org/officeDocument/2006/relationships/slide" Target="/ppt/slides/slide2.xml" Id="R6a01b4e8cb7349b0" /><Relationship Type="http://schemas.openxmlformats.org/officeDocument/2006/relationships/slide" Target="/ppt/slides/slide3.xml" Id="R428e1498044b4ef1" /><Relationship Type="http://schemas.openxmlformats.org/officeDocument/2006/relationships/slide" Target="/ppt/slides/slide4.xml" Id="R2554ce5d39564eae" /><Relationship Type="http://schemas.openxmlformats.org/officeDocument/2006/relationships/slide" Target="/ppt/slides/slide5.xml" Id="R6b782f57554244e6" /><Relationship Type="http://schemas.openxmlformats.org/officeDocument/2006/relationships/slide" Target="/ppt/slides/slide6.xml" Id="R18d759c30f764bcf" /><Relationship Type="http://schemas.openxmlformats.org/officeDocument/2006/relationships/slide" Target="/ppt/slides/slide7.xml" Id="Reea22092d0d946ec" /><Relationship Type="http://schemas.openxmlformats.org/officeDocument/2006/relationships/slide" Target="/ppt/slides/slide8.xml" Id="R4764dea1bdad4e02" /><Relationship Type="http://schemas.openxmlformats.org/officeDocument/2006/relationships/slide" Target="/ppt/slides/slide9.xml" Id="Rb142f34549ef4aa6" /><Relationship Type="http://schemas.openxmlformats.org/officeDocument/2006/relationships/slide" Target="/ppt/slides/slide10.xml" Id="Rd1617c1e96ea413d" /><Relationship Type="http://schemas.openxmlformats.org/officeDocument/2006/relationships/slide" Target="/ppt/slides/slide11.xml" Id="R126cf93b78384f7a" /><Relationship Type="http://schemas.openxmlformats.org/officeDocument/2006/relationships/slide" Target="/ppt/slides/slide12.xml" Id="R29f87048a21f4604" /><Relationship Type="http://schemas.openxmlformats.org/officeDocument/2006/relationships/slide" Target="/ppt/slides/slide13.xml" Id="R13b54e02035d498e" /><Relationship Type="http://schemas.openxmlformats.org/officeDocument/2006/relationships/slide" Target="/ppt/slides/slide14.xml" Id="R8a948ba9cd764ab9" /><Relationship Type="http://schemas.openxmlformats.org/officeDocument/2006/relationships/slide" Target="/ppt/slides/slide15.xml" Id="R7bd4a3b5903343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501f89f6c84f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0ac5fd20724d0b" /><Relationship Type="http://schemas.openxmlformats.org/officeDocument/2006/relationships/notesMaster" Target="/ppt/notesMasters/notesMaster1.xml" Id="Rdaadeb48d98741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ccd91786e4421a" /><Relationship Type="http://schemas.openxmlformats.org/officeDocument/2006/relationships/notesMaster" Target="/ppt/notesMasters/notesMaster1.xml" Id="Rc589a9946b1440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e330760e4b4780" /><Relationship Type="http://schemas.openxmlformats.org/officeDocument/2006/relationships/notesMaster" Target="/ppt/notesMasters/notesMaster1.xml" Id="R5c7952a9ab214f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b088d0bd674564" /><Relationship Type="http://schemas.openxmlformats.org/officeDocument/2006/relationships/notesMaster" Target="/ppt/notesMasters/notesMaster1.xml" Id="R0ab901aa8f8d4f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2af6fdc4ce4f48" /><Relationship Type="http://schemas.openxmlformats.org/officeDocument/2006/relationships/notesMaster" Target="/ppt/notesMasters/notesMaster1.xml" Id="R87affa8e3e614a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22cb4784e446b3" /><Relationship Type="http://schemas.openxmlformats.org/officeDocument/2006/relationships/notesMaster" Target="/ppt/notesMasters/notesMaster1.xml" Id="R7b94d8a06b124dc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0aa736320340e1" /><Relationship Type="http://schemas.openxmlformats.org/officeDocument/2006/relationships/notesMaster" Target="/ppt/notesMasters/notesMaster1.xml" Id="Rb9e4102d44d24b1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b8bbb5ad224944" /><Relationship Type="http://schemas.openxmlformats.org/officeDocument/2006/relationships/notesMaster" Target="/ppt/notesMasters/notesMaster1.xml" Id="R9ee422adb6f94a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1956b95ac24430e" /><Relationship Type="http://schemas.openxmlformats.org/officeDocument/2006/relationships/notesMaster" Target="/ppt/notesMasters/notesMaster1.xml" Id="R66e7ad8d1019460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361045cc1949b8" /><Relationship Type="http://schemas.openxmlformats.org/officeDocument/2006/relationships/notesMaster" Target="/ppt/notesMasters/notesMaster1.xml" Id="R1c1fb512dc9c4d5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341d343b6a4ae1" /><Relationship Type="http://schemas.openxmlformats.org/officeDocument/2006/relationships/notesMaster" Target="/ppt/notesMasters/notesMaster1.xml" Id="Re3c803578a75437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1b5a422fbc2492f" /><Relationship Type="http://schemas.openxmlformats.org/officeDocument/2006/relationships/notesMaster" Target="/ppt/notesMasters/notesMaster1.xml" Id="R34ff3ef1ff76497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0c0ec4d34af4e2e" /><Relationship Type="http://schemas.openxmlformats.org/officeDocument/2006/relationships/notesMaster" Target="/ppt/notesMasters/notesMaster1.xml" Id="R5f7ce0d0d1a046e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8cd1da35bba4987" /><Relationship Type="http://schemas.openxmlformats.org/officeDocument/2006/relationships/notesMaster" Target="/ppt/notesMasters/notesMaster1.xml" Id="R334bb92bcdd642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00209ded3b54232" /><Relationship Type="http://schemas.openxmlformats.org/officeDocument/2006/relationships/notesMaster" Target="/ppt/notesMasters/notesMaster1.xml" Id="R6b0710b833e649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Abrir con la pregunta: si un dígito es un conjunto de píxeles conectados, ¿ganamos algo al modelar explícitamente esos vecinos? Presentar al grupo sin leer la lista completa.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https://tsapps.nist.gov/BDbC/Search/Details/387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el problema concreto antes de nombrar el modelo. Aclarar que no se entrenó con documentos costarricenses y que la relevancia nacional es una aplicación potencial, no un resultado probado.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https://arxiv.org/abs/1609.02907</a:t>
            </a:r>
          </a:p>
          <a:p xmlns:a="http://schemas.openxmlformats.org/drawingml/2006/main">
            <a:r>
              <a:t>- https://tsapps.nist.gov/BDbC/Search/Details/387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Enunciar el objetivo general y usar los cuatro verbos como objetivos específicos. Anticipar que el análisis de sensibilidad será tan importante como la métrica final.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https://doi.org/10.6028/NIST.AI.100-1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Mencionar fuente, tamaños y el hecho de que la prueba no participa en selección. Explicar que el balance razonable permite exactitud, pero que se prioriza F1 macro.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https://tsapps.nist.gov/BDbC/Search/Details/387</a:t>
            </a:r>
          </a:p>
          <a:p xmlns:a="http://schemas.openxmlformats.org/drawingml/2006/main">
            <a:r>
              <a:t>- https://yann.lecun.com/exdb/mnist/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Leer la figura: diversidad de trazos y balance. Señalar que el centrado fuerte facilita la tarea y limita la validez externa.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https://tsapps.nist.gov/BDbC/Search/Details/387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leer la ecuación símbolo por símbolo. Explicar que cada paso conserva parte del píxel y agrega el promedio local. Mostrar por qué el einsum anterior daba cero: A no tenía auto-aristas y se seleccionó solo su diagonal.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https://arxiv.org/abs/1511.05493</a:t>
            </a:r>
          </a:p>
          <a:p xmlns:a="http://schemas.openxmlformats.org/drawingml/2006/main">
            <a:r>
              <a:t>- https://arxiv.org/abs/1609.02907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Defender por qué cuentan como modelos distintos: uno supone separabilidad lineal y no usa relaciones; el otro incorpora contexto local y una frontera no lineal. Reconocer que la capacidad también cambia.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https://www.deeplearningbook.org/</a:t>
            </a:r>
          </a:p>
          <a:p xmlns:a="http://schemas.openxmlformats.org/drawingml/2006/main">
            <a:r>
              <a:t>- https://arxiv.org/abs/1609.02907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la validación como un diagrama: mismo muestreo, mismos pliegues, prueba cerrada. Definir F1 macro en una frase: calcula F1 por dígito y promedia sin favorecer clases grandes.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https://scikit-learn.org/stable/modules/cross_validation.html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Decir los números en voz alta y su significado. Elegir Graph-MLP como prototipo por F1 y log-loss, pero no atribuir toda la mejora al grafo: también agrega no linealidad.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D:/Archivo_EMILIO/Entrega_Final_GNN_MNIST/data/processed/resultados.json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Leer filas como clase real y columnas como predicción. Señalar que los errores tienen sentido visual: cierre de bucles, inclinación y trazos parecidos. Conectar esto con revisión humana para baja confianza.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D:/Archivo_EMILIO/Entrega_Final_GNN_MNIST/data/processed/resultados.json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es la diapositiva más importante después de resultados. Explicar tres hallazgos: L2 casi no mueve la métrica; muchos pasos causan over-smoothing; el tamaño muestral domina. Reconocer la ablación T=0.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D:/Archivo_EMILIO/Entrega_Final_GNN_MNIST/data/processed/resultados.json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Reconocer límites suma credibilidad. Separar privacidad de sesgo: MNIST no trae identificadores, pero la escritura vinculada a formularios sí podría ser reidentificable. Un error en montos o expedientes puede causar daño.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https://doi.org/10.6028/NIST.AI.100-1</a:t>
            </a:r>
          </a:p>
          <a:p xmlns:a="http://schemas.openxmlformats.org/drawingml/2006/main">
            <a:r>
              <a:t>- https://doi.org/10.1145/3287560.3287596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Cerrar con la frase final y dejar esta diapositiva visible durante preguntas. Responder objetivos: representación, comparación, sensibilidad y salvaguardas. No mostrar una diapositiva de “gracias”.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D:/Archivo_EMILIO/Entrega_Final_GNN_MNIST/data/processed/resultados.json</a:t>
            </a:r>
          </a:p>
          <a:p xmlns:a="http://schemas.openxmlformats.org/drawingml/2006/main">
            <a:r>
              <a:t>- https://doi.org/10.6028/NIST.AI.100-1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Usar solo si preguntan por métricas adicionales o variabilidad.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D:/Archivo_EMILIO/Entrega_Final_GNN_MNIST/data/processed/resultados.json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Usar si preguntan por la línea problemática o reproducibilidad. Explicar que la nueva suma de vecinos es algebraicamente D^-1 A H, pero evita construir la matriz densa.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D:/Archivo_EMILIO/Entrega_Final_GNN_MNIST/src/modelado_mnist.py</a:t>
            </a:r>
          </a:p>
          <a:p xmlns:a="http://schemas.openxmlformats.org/drawingml/2006/main">
            <a:r>
              <a:t>- D:/Archivo_EMILIO/Entrega_Final_GNN_MNIST/README.md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83b74a34d447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af9db780ff4888" /><Relationship Type="http://schemas.openxmlformats.org/officeDocument/2006/relationships/slideLayout" Target="/ppt/slideLayouts/slideLayout1.xml" Id="R900bb6f81f9b42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0bb6f81f9b42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783a4d0ce84502" /><Relationship Type="http://schemas.openxmlformats.org/officeDocument/2006/relationships/notesSlide" Target="/ppt/notesSlides/notesSlide1.xml" Id="Rc78bd8a4c8ed49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80b0df5f014852" /><Relationship Type="http://schemas.openxmlformats.org/officeDocument/2006/relationships/notesSlide" Target="/ppt/notesSlides/notesSlide2.xml" Id="Rbcd35a5856574d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ad6dc98b445ce" /><Relationship Type="http://schemas.openxmlformats.org/officeDocument/2006/relationships/notesSlide" Target="/ppt/notesSlides/notesSlide3.xml" Id="R6a36c44ba9b84e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2ccfb8372d4e1e" /><Relationship Type="http://schemas.openxmlformats.org/officeDocument/2006/relationships/notesSlide" Target="/ppt/notesSlides/notesSlide4.xml" Id="Re9414d23e39a4f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f019cf301348c0" /><Relationship Type="http://schemas.openxmlformats.org/officeDocument/2006/relationships/image" Target="/ppt/media/image.png" Id="Rb154d5f5ca694326" /><Relationship Type="http://schemas.openxmlformats.org/officeDocument/2006/relationships/notesSlide" Target="/ppt/notesSlides/notesSlide5.xml" Id="R593dfc4c9e5149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1896bfd5074398" /><Relationship Type="http://schemas.openxmlformats.org/officeDocument/2006/relationships/notesSlide" Target="/ppt/notesSlides/notesSlide6.xml" Id="R903c1659952143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7df5debd2a48da" /><Relationship Type="http://schemas.openxmlformats.org/officeDocument/2006/relationships/notesSlide" Target="/ppt/notesSlides/notesSlide7.xml" Id="Re6137d44726a47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6c1a04e78441f" /><Relationship Type="http://schemas.openxmlformats.org/officeDocument/2006/relationships/notesSlide" Target="/ppt/notesSlides/notesSlide8.xml" Id="R5e4bd90c85d7480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8e888e3528474c" /><Relationship Type="http://schemas.openxmlformats.org/officeDocument/2006/relationships/notesSlide" Target="/ppt/notesSlides/notesSlide9.xml" Id="Rb9b420a6c667496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4f90f3c5454f17" /><Relationship Type="http://schemas.openxmlformats.org/officeDocument/2006/relationships/image" Target="/ppt/media/image2.png" Id="R2f2375ecd3cf496d" /><Relationship Type="http://schemas.openxmlformats.org/officeDocument/2006/relationships/notesSlide" Target="/ppt/notesSlides/notesSlide10.xml" Id="R584be20ace8846b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630e69d5f74076" /><Relationship Type="http://schemas.openxmlformats.org/officeDocument/2006/relationships/chart" Target="/ppt/slides/charts/chart1.xml" Id="Re2d99e556f684e55" /><Relationship Type="http://schemas.openxmlformats.org/officeDocument/2006/relationships/notesSlide" Target="/ppt/notesSlides/notesSlide11.xml" Id="R96fb65c729f7485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0a32eb33ed4a3d" /><Relationship Type="http://schemas.openxmlformats.org/officeDocument/2006/relationships/notesSlide" Target="/ppt/notesSlides/notesSlide12.xml" Id="R823d03d87c7b4e3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108e0f05944aa" /><Relationship Type="http://schemas.openxmlformats.org/officeDocument/2006/relationships/notesSlide" Target="/ppt/notesSlides/notesSlide13.xml" Id="R05df2b0e5579467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7505e7edd4e34" /><Relationship Type="http://schemas.openxmlformats.org/officeDocument/2006/relationships/notesSlide" Target="/ppt/notesSlides/notesSlide14.xml" Id="Rd239c8b0e432454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93c4f656184938" /><Relationship Type="http://schemas.openxmlformats.org/officeDocument/2006/relationships/notesSlide" Target="/ppt/notesSlides/notesSlide15.xml" Id="R94cdfac95c3d4eee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F1 macro</c:v>
          </c:tx>
          <c:spPr>
            <a:ln xmlns:a="http://schemas.openxmlformats.org/drawingml/2006/main" w="47625">
              <a:solidFill>
                <a:srgbClr val="F2994A"/>
              </a:solidFill>
              <a:prstDash val="solid"/>
            </a:ln>
          </c:spPr>
          <c:marker>
            <c:symbol val="circle"/>
            <c:size val="9"/>
            <c:spPr>
              <a:solidFill xmlns:a="http://schemas.openxmlformats.org/drawingml/2006/main">
                <a:srgbClr val="F2994A"/>
              </a:solidFill>
            </c:spPr>
          </c:marker>
          <c:cat>
            <c:strLit>
              <c:ptCount val="3"/>
              <c:pt idx="0">
                <c:v>5k</c:v>
              </c:pt>
              <c:pt idx="1">
                <c:v>10k</c:v>
              </c:pt>
              <c:pt idx="2">
                <c:v>15k</c:v>
              </c:pt>
            </c:strLit>
          </c:cat>
          <c:val>
            <c:numLit>
              <c:formatCode>General</c:formatCode>
              <c:ptCount val="3"/>
              <c:pt idx="0">
                <c:v>88.82</c:v>
              </c:pt>
              <c:pt idx="1">
                <c:v>92.16</c:v>
              </c:pt>
              <c:pt idx="2">
                <c:v>92.59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6324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2E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7085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5"/>
          <c:min val="8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2EA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F1 macro (%)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</a:p>
        </c:txPr>
        <c:crossAx val="48650112"/>
        <c:crossBetween val="between"/>
        <c:majorUnit val="2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5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C40507-FF3C-4832-A022-2B1B9E73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CBC36-3F4C-4EFF-89A1-00A53A952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7200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CEAE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CEAE5"/>
                </a:solidFill>
                <a:latin typeface="Arial"/>
                <a:ea typeface="Arial"/>
                <a:cs typeface="Arial"/>
              </a:rPr>
              <a:t>REDES NEURONALES SOBRE GRAFOS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A48500-6B9B-42FB-BCFC-72104D43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9525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Clasificar dígitos con</a:t>
            </a:r>
          </a:p>
          <a:p xmlns:a="http://schemas.openxmlformats.org/drawingml/2006/main">
            <a:pPr algn="l"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contexto local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3731CE-3103-4E8F-BD80-FE49CF7A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67125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FE0E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CFE0EC"/>
                </a:solidFill>
                <a:latin typeface="Arial"/>
                <a:ea typeface="Arial"/>
                <a:cs typeface="Arial"/>
              </a:rPr>
              <a:t>Softmax vs. Graph-MLP · MNIST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CFC173-3370-4923-BF73-9E2CF515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25E082-959E-4995-98FD-27397BD0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148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Diego Díaz · Bairon Horna · Ignacio Marín · Jordan López · Aaron Medrano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A5B98F-56E4-4F97-A284-7D75B656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FE0E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FE0EC"/>
                </a:solidFill>
                <a:latin typeface="Arial"/>
                <a:ea typeface="Arial"/>
                <a:cs typeface="Arial"/>
              </a:rPr>
              <a:t>BCD5105 Modelado matemático · Lead University · 19 de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66005147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2DDA78-48E8-4320-8F7B-BB5027F6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9509BA-2F4C-45CF-8390-9B2D9CA1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Los trazos importan más que los píxeles aislados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D39A5-5E09-43C7-B6CA-168728B6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8C9AC5-B9DB-4416-AEEF-E98482DE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Una imagen es una red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C7E69-2566-4D9B-AFB3-98B489B2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4476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Cada píxel es un nodo. Las aristas conectan ocho vecinos. El patrón útil está en la continuidad del trazo.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EEE5AD-832F-463C-A799-CC75C13F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71625"/>
            <a:ext cx="49530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7239000" y="2381250"/>
            <a:ext cx="1333500" cy="952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30" name=""/>
          <p:cNvCxnSpPr/>
          <p:nvPr/>
        </p:nvCxnSpPr>
        <p:spPr>
          <a:xfrm xmlns:a="http://schemas.openxmlformats.org/drawingml/2006/main">
            <a:off x="8572500" y="2381250"/>
            <a:ext cx="133350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31" name=""/>
          <p:cNvCxnSpPr/>
          <p:nvPr/>
        </p:nvCxnSpPr>
        <p:spPr>
          <a:xfrm xmlns:a="http://schemas.openxmlformats.org/drawingml/2006/main">
            <a:off x="7239000" y="2476500"/>
            <a:ext cx="285750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32" name=""/>
          <p:cNvCxnSpPr/>
          <p:nvPr/>
        </p:nvCxnSpPr>
        <p:spPr>
          <a:xfrm xmlns:a="http://schemas.openxmlformats.org/drawingml/2006/main">
            <a:off x="7524750" y="2381250"/>
            <a:ext cx="1047750" cy="13335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33" name=""/>
          <p:cNvCxnSpPr/>
          <p:nvPr/>
        </p:nvCxnSpPr>
        <p:spPr>
          <a:xfrm xmlns:a="http://schemas.openxmlformats.org/drawingml/2006/main">
            <a:off x="8572500" y="2381250"/>
            <a:ext cx="285750" cy="13335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34" name=""/>
          <p:cNvCxnSpPr/>
          <p:nvPr/>
        </p:nvCxnSpPr>
        <p:spPr>
          <a:xfrm xmlns:a="http://schemas.openxmlformats.org/drawingml/2006/main">
            <a:off x="8858250" y="2667000"/>
            <a:ext cx="1047750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35" name=""/>
          <p:cNvCxnSpPr/>
          <p:nvPr/>
        </p:nvCxnSpPr>
        <p:spPr>
          <a:xfrm xmlns:a="http://schemas.openxmlformats.org/drawingml/2006/main">
            <a:off x="9906000" y="2667000"/>
            <a:ext cx="285750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36" name=""/>
          <p:cNvCxnSpPr/>
          <p:nvPr/>
        </p:nvCxnSpPr>
        <p:spPr>
          <a:xfrm xmlns:a="http://schemas.openxmlformats.org/drawingml/2006/main">
            <a:off x="7524750" y="3714750"/>
            <a:ext cx="133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cxnSp>
        <p:nvCxnSpPr>
          <p:cNvPr id="37" name=""/>
          <p:cNvCxnSpPr/>
          <p:nvPr/>
        </p:nvCxnSpPr>
        <p:spPr>
          <a:xfrm xmlns:a="http://schemas.openxmlformats.org/drawingml/2006/main">
            <a:off x="8858250" y="3714750"/>
            <a:ext cx="1333500" cy="1905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9CB4C7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5AF242-D020-4529-BCAB-DD43FBD2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05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CF121-3A7C-4243-91BF-63B48F71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098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F4F680-9DF0-41F0-B797-830404699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95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B7B738-90A4-41E5-9087-5E493624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4D39B1-FC4D-4D68-B8D7-676AA3E0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A0480D-433F-4F71-A2E8-40F367B8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7338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C961A1-4ED3-44E5-B18D-7D057826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En Costa Rica podría apoyar la transcripción de formularios y registros; MNIST solo es una prueba de concepto.</a:t>
            </a:r>
          </a:p>
        </p:txBody>
      </p:sp>
    </p:spTree>
    <p:extLst>
      <p:ext uri="{BB962C8B-B14F-4D97-AF65-F5344CB8AC3E}">
        <p14:creationId xmlns:p14="http://schemas.microsoft.com/office/powerpoint/2010/main" val="14027301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C439CB-5096-48C2-B7B0-8234D86A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2F488-F2F1-4E1F-B53D-9106073D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La pregunta es comparativa, no promocional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183455-62ED-497A-970A-8F707869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F399FB-C5FE-4ADF-822F-9BF71934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¿Incorporar vecindad local y una frontera no lineal mejora la clasificación frente a un modelo lineal?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054EE-A96C-4438-9557-D507F180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381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D07B9-EA75-44E4-B531-5F84C94E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C16499-413E-4887-B82C-7D73B149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243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Representar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77650-8110-4C68-A2BE-C594E205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29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MNIST como grafo de 784 nodos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2BEC8-5455-4FFB-878E-4BFC898D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143250"/>
            <a:ext cx="2381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4D3367-DC74-4C41-BE5A-7524D616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333750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3CD314-1599-40F9-83C0-F2B53B1E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9243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Comparar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5E38B9-4F99-4433-BC03-2C5001C4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429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Softmax y Graph-MLP en los mismos datos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778695-7971-49E4-9F8A-A60EF10C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43250"/>
            <a:ext cx="2381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CAA429-104B-4D31-891F-D0DB214F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341345-92C0-48E8-A582-BDA483D3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243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Validar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2CCDA3-4041-491B-BE2D-D9C80A42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29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F1 macro, pérdida y tres pliegues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4A13A1-BD50-4C28-B9E7-84034F83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143250"/>
            <a:ext cx="2381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703935-286D-421D-8AA1-04D649F8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333750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55FFEB-7BBE-43A6-B711-794341E7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9243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Tensionar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BB3F3D-E328-44CE-A84D-D82F48DE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429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L2, propagación y tamaño muestral</a:t>
            </a:r>
          </a:p>
        </p:txBody>
      </p:sp>
    </p:spTree>
    <p:extLst>
      <p:ext uri="{BB962C8B-B14F-4D97-AF65-F5344CB8AC3E}">
        <p14:creationId xmlns:p14="http://schemas.microsoft.com/office/powerpoint/2010/main" val="153116681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D9C6C4-FBC8-428C-B323-50059030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A9667-D925-4051-92DF-C6BC4202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70,000 imágenes; la prueba oficial queda cerrada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E72DA8-4550-4F0C-96B3-2B8E5CDE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19125" y="1476375"/>
          <a:ext xmlns:a="http://schemas.openxmlformats.org/drawingml/2006/main" cx="7143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85938"/>
                <a:gridCol w="1785938"/>
                <a:gridCol w="1785938"/>
                <a:gridCol w="1785938"/>
              </a:tblGrid>
              <a:tr h="6286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Forma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Rango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Uso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x_train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60,000×28×28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0–255 → [0,1]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Ajuste / CV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y_train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60,000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0–9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Etiqueta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x_test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10,000×28×28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0–255 → [0,1]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Prueba final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y_test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10,000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0–9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Referencia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C7597C-F94C-41AD-A7F2-10692D7D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76375"/>
            <a:ext cx="3048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3533FD-4968-4ADD-BD47-3412135A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14500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7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1.24×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3A7C5-5226-478F-8A88-B8E7805E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clase mayor / menor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701B5B-FAAB-446B-9853-AF4E3CEA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90875"/>
            <a:ext cx="3048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51A3A7-3142-443F-AFED-5E5CB32E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29000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7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A19120-979A-4182-A6D1-EAC4C1C4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95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semilla fija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0AFCFC-44BE-49A7-B214-46087459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Sin faltantes, sin imputación y sin usar etiquetas durante la propagación.</a:t>
            </a:r>
          </a:p>
        </p:txBody>
      </p:sp>
    </p:spTree>
    <p:extLst>
      <p:ext uri="{BB962C8B-B14F-4D97-AF65-F5344CB8AC3E}">
        <p14:creationId xmlns:p14="http://schemas.microsoft.com/office/powerpoint/2010/main" val="156272785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C27CFA-AB32-4B7B-B9A5-2C82A137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078617-8ED9-419F-A8E2-2013B3D6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Las clases están balanceadas y los trazos conservan geometría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5ADA67-8051-48DB-99F4-11ED52CE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4d5f5ca694326"/>
          <a:stretch xmlns:a="http://schemas.openxmlformats.org/drawingml/2006/main"/>
        </p:blipFill>
        <p:spPr>
          <a:xfrm xmlns:a="http://schemas.openxmlformats.org/drawingml/2006/main">
            <a:off x="2159000" y="1381125"/>
            <a:ext cx="7874000" cy="4429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EAA153-AE9B-4E9F-AAF3-6783B940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0250"/>
            <a:ext cx="10382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La clase 1 tiene 6,742 ejemplos; la 5, 5,421. Las diagonales justifican ocho vecinos.</a:t>
            </a:r>
          </a:p>
        </p:txBody>
      </p:sp>
    </p:spTree>
    <p:extLst>
      <p:ext uri="{BB962C8B-B14F-4D97-AF65-F5344CB8AC3E}">
        <p14:creationId xmlns:p14="http://schemas.microsoft.com/office/powerpoint/2010/main" val="19424107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ED23EE-AE59-437F-940D-58F19C83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24DDA-1878-443F-A476-B5E010F6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Dos pasos mezclan señal propia y vecindad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144EB9-915C-490E-B771-63E7EA60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DB19DB-8BF0-42B4-8632-6D6350A3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53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FBB04A-3E89-4DD6-8C6E-05081144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1019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H(t+1) = (1 − α)H(t) + α D⁻¹ A H(t)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01ADA1-2E73-445D-8844-74C1A980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H(0)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735810-1A12-4902-B0CE-09C7B6C8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52875"/>
            <a:ext cx="209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Intensidad del píxel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AD523E-F9E8-40E7-AE32-24AB2099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333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D⁻¹AH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8EA900-B065-4A74-8B9D-485BDDE7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52875"/>
            <a:ext cx="209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Promedio de ocho vecinos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04160-5824-474E-BECB-04F08708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33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α = 0.35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F3501E-00EC-4A45-87A1-21AA49DE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952875"/>
            <a:ext cx="209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Conserva 65% propio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1AD6F1-BA46-4EAF-8103-5839ACF1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333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2994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2994A"/>
                </a:solidFill>
                <a:latin typeface="Arial"/>
                <a:ea typeface="Arial"/>
                <a:cs typeface="Arial"/>
              </a:rPr>
              <a:t>T =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9851FA-AE4A-4701-B57E-DC956C89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52875"/>
            <a:ext cx="209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Evita sobre-suavizado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4ED8F0-840E-4F4A-A449-F10C684C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28637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299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2994A"/>
                </a:solidFill>
                <a:latin typeface="Arial"/>
                <a:ea typeface="Arial"/>
                <a:cs typeface="Arial"/>
              </a:rPr>
              <a:t>El prototipo original usó einsum('nn,…'): tomó la diagonal nula de A y eliminó todos los mensajes.</a:t>
            </a:r>
          </a:p>
        </p:txBody>
      </p:sp>
    </p:spTree>
    <p:extLst>
      <p:ext uri="{BB962C8B-B14F-4D97-AF65-F5344CB8AC3E}">
        <p14:creationId xmlns:p14="http://schemas.microsoft.com/office/powerpoint/2010/main" val="13149887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A92B5C-429A-4E7B-A515-C00969CD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A699DE-CD23-4A40-90B8-FBEB7A86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Los modelos parten de supuestos distintos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36A500-6D04-49E5-A274-CA051C49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06CE8C-855C-4864-887A-33E5124A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5143500" cy="39052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8AF0D-6DAA-450B-A854-F3D40A99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Softmax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721FDB-3022-4758-9049-E2168B96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Frontera lineal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4A42C7-393F-47FF-841B-D0B9EB89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4095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784 intensidades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7,850 parámetros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L2 = 10⁻⁴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Adam, lr = 0.002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794BFB-CDE2-486B-B77F-A8F2D9A4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476375"/>
            <a:ext cx="5143500" cy="39052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AE0D0-94A2-4DBE-9B82-179AC7B3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Graph-MLP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C7BC08-2433-45F9-AEFE-B8183E4D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765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Contexto local + ReLU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3C09C1-0522-4FC3-97EB-CF3B9424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4095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Propagación T = 2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64 unidades ocultas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≈ 50,900 parámetros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Adam, lr = 0.001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949581-F43E-43E6-9406-EE9CF33F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71500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Ambos: 12 épocas · lotes de 256 · semilla 2026</a:t>
            </a:r>
          </a:p>
        </p:txBody>
      </p:sp>
    </p:spTree>
    <p:extLst>
      <p:ext uri="{BB962C8B-B14F-4D97-AF65-F5344CB8AC3E}">
        <p14:creationId xmlns:p14="http://schemas.microsoft.com/office/powerpoint/2010/main" val="124309553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8AA057-FE4A-49D3-88D8-1849CCAA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0F9B1E-4580-4969-AF28-C9DB1E92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La comparación usa los mismos pliegues y la misma prueba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BF61A8-D671-45A0-9E58-7E8A83D2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cxnSp>
        <p:nvCxnSpPr>
          <p:cNvPr id="22" name=""/>
          <p:cNvCxnSpPr/>
          <p:nvPr/>
        </p:nvCxnSpPr>
        <p:spPr>
          <a:xfrm xmlns:a="http://schemas.openxmlformats.org/drawingml/2006/main">
            <a:off x="3143250" y="3190875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13A89E"/>
            </a:solidFill>
            <a:prstDash val="solid"/>
          </a:ln>
        </p:spPr>
      </p:cxnSp>
      <p:cxnSp>
        <p:nvCxnSpPr>
          <p:cNvPr id="23" name=""/>
          <p:cNvCxnSpPr/>
          <p:nvPr/>
        </p:nvCxnSpPr>
        <p:spPr>
          <a:xfrm xmlns:a="http://schemas.openxmlformats.org/drawingml/2006/main">
            <a:off x="6381750" y="3190875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13A89E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DDA526-636C-41D7-B2E3-AE62E663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90750"/>
            <a:ext cx="2333625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7DD1B5-D1EA-4340-A296-AE4F2937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28875"/>
            <a:ext cx="714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BFC3D3-9812-47A4-B71A-0C41849D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90875"/>
            <a:ext cx="1952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12,000 estratificados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1F5728-F9E2-4BC8-84CA-AC3EEE62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14750"/>
            <a:ext cx="195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muestra para CV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53865D-34AB-4EF4-9899-EE8E484E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190750"/>
            <a:ext cx="2333625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757ED1-CEB1-422A-8022-30321922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28875"/>
            <a:ext cx="714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E90110-75BC-4BFF-AA78-4E708DCB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190875"/>
            <a:ext cx="1952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3 pliegues comunes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D4F50B-81ED-4052-BFE0-2AAB9298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14750"/>
            <a:ext cx="195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cada dato valida una vez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BA69DA-62EF-48BC-9F65-E017505D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190750"/>
            <a:ext cx="2333625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B26704-A61F-400E-AC48-D5CC7097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28875"/>
            <a:ext cx="714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7AA0F0-1050-4BA5-AAD2-BC623C5D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190875"/>
            <a:ext cx="1952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10,000 de prueba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64C84C-41F8-42EC-A7F2-88FC402C8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714750"/>
            <a:ext cx="195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evaluación final única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228397-7C74-4F6A-B609-F4875AFF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95875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Métrica principal: F1 macro · Apoyo: exactitud, precisión, exhaustividad y log-loss</a:t>
            </a:r>
          </a:p>
        </p:txBody>
      </p:sp>
    </p:spTree>
    <p:extLst>
      <p:ext uri="{BB962C8B-B14F-4D97-AF65-F5344CB8AC3E}">
        <p14:creationId xmlns:p14="http://schemas.microsoft.com/office/powerpoint/2010/main" val="164150292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43355-4801-444A-B1C3-5C6A2FECD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B4870-E39F-48BF-A5ED-F603CE3F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Graph-MLP gana 3.31 puntos de F1 en prueba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38BD06-2379-4E27-9CC1-DB449B76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523875" y="1476375"/>
          <a:ext xmlns:a="http://schemas.openxmlformats.org/drawingml/2006/main" cx="11144250" cy="2095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28850"/>
                <a:gridCol w="2228850"/>
                <a:gridCol w="2228850"/>
                <a:gridCol w="2228850"/>
                <a:gridCol w="2228850"/>
              </a:tblGrid>
              <a:tr h="6985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CV F1 macro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Exactitud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F1 prueba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Log-loss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Softmax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89.02% ± 0.22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92.30%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92.19%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0.280</a:t>
                      </a:r>
                    </a:p>
                  </a:txBody>
                  <a:tcPr marL="91440" marR="91440" marT="45720" marB="45720"/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Graph-MLP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91.32% ± 0.39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95.56%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95.51%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0.152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18CBC8-EFBA-414B-87EC-4DBB3CDB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95750"/>
            <a:ext cx="3143250" cy="1476375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1D76D5-4B7F-4EF1-B3F1-D4385E92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+3.31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B4132E-46AF-4865-BAA9-5BEADD5D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puntos de F1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7B6FEA-8578-4317-AA31-5F86FBA0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095750"/>
            <a:ext cx="3143250" cy="1476375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1A3B76-42EB-4A73-AA4B-B6A8FA53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2862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−45.7%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902BED-2FD7-4A16-B94A-AF1C43A2A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9530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pérdida logarítmica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270FBC-116E-47FE-A00E-9AE057B6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95750"/>
            <a:ext cx="3143250" cy="1476375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F0B08C-A0B0-4ECB-9224-FF0293E8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3 / 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D65F17-7DDB-4EAC-B113-28C3C4BC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9530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pliegues favorables</a:t>
            </a:r>
          </a:p>
        </p:txBody>
      </p:sp>
    </p:spTree>
    <p:extLst>
      <p:ext uri="{BB962C8B-B14F-4D97-AF65-F5344CB8AC3E}">
        <p14:creationId xmlns:p14="http://schemas.microsoft.com/office/powerpoint/2010/main" val="136962891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BEADF3-6917-46FF-9981-FE5F6A9F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EC8FF6-B33C-4795-BB9C-745C3F6A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4 ↔ 9 sigue siendo la confusión más persistente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4ADB32-8998-4D84-AB57-87DB0D8C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375ecd3cf496d"/>
          <a:stretch xmlns:a="http://schemas.openxmlformats.org/drawingml/2006/main"/>
        </p:blipFill>
        <p:spPr>
          <a:xfrm xmlns:a="http://schemas.openxmlformats.org/drawingml/2006/main">
            <a:off x="523875" y="1384102"/>
            <a:ext cx="7524750" cy="423267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7C0040-A365-4155-B74F-8811F268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19250"/>
            <a:ext cx="3143250" cy="3429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D0CFC0-24EA-48AC-979F-6EF1C201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526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Errores principales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5C1405-4C2C-4067-8F26-566CD054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14625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4 → 9   28 casos</a:t>
            </a:r>
          </a:p>
          <a:p xmlns:a="http://schemas.openxmlformats.org/drawingml/2006/main">
            <a:pPr algn="l">
              <a:defRPr sz="18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9 → 4   28 casos</a:t>
            </a:r>
          </a:p>
          <a:p xmlns:a="http://schemas.openxmlformats.org/drawingml/2006/main">
            <a:pPr algn="l">
              <a:defRPr sz="18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8 → 5   21 casos</a:t>
            </a:r>
          </a:p>
          <a:p xmlns:a="http://schemas.openxmlformats.org/drawingml/2006/main">
            <a:pPr algn="l">
              <a:defRPr sz="18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3 → 5   15 casos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5D53E6-49AF-4C17-A376-7F085569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572125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La clase 5 mejora de 88.8% a 95.1% de aciertos.</a:t>
            </a:r>
          </a:p>
        </p:txBody>
      </p:sp>
    </p:spTree>
    <p:extLst>
      <p:ext uri="{BB962C8B-B14F-4D97-AF65-F5344CB8AC3E}">
        <p14:creationId xmlns:p14="http://schemas.microsoft.com/office/powerpoint/2010/main" val="164897117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6D362B-998B-43F6-9C8B-F83DB5DC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204503-DFA4-4532-9090-373E12AC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Más datos ayudan; más propagación termina suavizando de más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2EECC-B1D6-4FD4-8F75-FFD9D0E1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523875" y="1476375"/>
          <a:ext xmlns:a="http://schemas.openxmlformats.org/drawingml/2006/main" cx="6191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d99e556f684e5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65445-3EC8-4603-8982-A70B793D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19250"/>
            <a:ext cx="4000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C368A-66EA-475C-A95C-FB9927F0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5737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L2 es estable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7664A8-3297-4825-A5AB-C05B37DC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81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92.51% → 92.37%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329503-F4AD-473D-8845-03E6C7158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4000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CF5F5-379B-4B7B-954A-0D7E2D04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7187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2994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2994A"/>
                </a:solidFill>
                <a:latin typeface="Arial"/>
                <a:ea typeface="Arial"/>
                <a:cs typeface="Arial"/>
              </a:rPr>
              <a:t>T = 0 supera T =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57AA06-A5B8-4140-B5B8-EB5DA704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92.73% → 92.21%</a:t>
            </a:r>
          </a:p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La no linealidad aporta más que el suavizado fijo.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B8E23C-2323-46E3-9A9E-BB5ECBAC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150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Conclusión: el modelo es robusto a L2, pero frágil cuando faltan datos.</a:t>
            </a:r>
          </a:p>
        </p:txBody>
      </p:sp>
    </p:spTree>
    <p:extLst>
      <p:ext uri="{BB962C8B-B14F-4D97-AF65-F5344CB8AC3E}">
        <p14:creationId xmlns:p14="http://schemas.microsoft.com/office/powerpoint/2010/main" val="119525885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0223BE-AB1F-4041-A39D-A69D7E5B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70F3E2-07DF-462B-8789-D98FFAE5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95.5% en MNIST no autoriza una decisión real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26746C-30B8-48FD-A5E3-29288145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E56E72-FF46-4C42-A63B-6A02946A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5191125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D5AAA6-311C-467E-8B80-65F30CDE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Limitaciones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9235F1-4B4D-4584-9CD4-5C4C8E7A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381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Dígitos centrados y limpios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Sin escritura costarricense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Propagación fija, no GNN aprendible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Comparación mezcla grafo y no linealidad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Sin auditoría demográfica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5C361C-76D7-4A3B-B92B-19A083AF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76375"/>
            <a:ext cx="5191125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84584B-FF39-4E66-81B2-3707DAE0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097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Salvaguardas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D33F3D-01A2-44B1-84EF-DE82BE78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571750"/>
            <a:ext cx="4381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Validación local por fuente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Umbral de rechazo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Revisión humana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Conservación de imagen original</a:t>
            </a:r>
          </a:p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• Monitoreo de deriva y subgrupos</a:t>
            </a:r>
          </a:p>
        </p:txBody>
      </p:sp>
    </p:spTree>
    <p:extLst>
      <p:ext uri="{BB962C8B-B14F-4D97-AF65-F5344CB8AC3E}">
        <p14:creationId xmlns:p14="http://schemas.microsoft.com/office/powerpoint/2010/main" val="184330484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E9E785-87E2-43F4-91EE-46F612E5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65C9E-439E-414B-85CA-4CED6151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La siguiente inversión debe ser en datos locales, no en más capas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CC66CC-1D17-4854-A8C0-771FA522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48EF01-0FA2-499C-A93F-6FA7630B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Conclusión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90A645-911C-441B-9D6B-019EB6BB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Graph-MLP mejora F1 y log-loss, pero la ablación muestra que la no linealidad aporta más que la propagación fija.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62AA7B-A54D-42F0-A86B-373B759F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76375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Recomendación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C4D15-A164-456D-809F-D1334B7FF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Recolectar 1,000–5,000 dígitos costarricenses, comparar MLP/CNN/GNN con capacidad equivalente y fijar revisión humana.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C81C3B-1CC9-4173-93E4-6979ECC7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10858500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0D2538"/>
          </a:solidFill>
          <a:ln xmlns:a="http://schemas.openxmlformats.org/drawingml/2006/main" w="9525">
            <a:solidFill>
              <a:srgbClr val="0D25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3AE918-13E7-4D2F-AF2C-FA5A137A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7200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 prototipo útil no es el que nunca falla; es el que sabe cuándo pedir ayuda.</a:t>
            </a:r>
          </a:p>
        </p:txBody>
      </p:sp>
    </p:spTree>
    <p:extLst>
      <p:ext uri="{BB962C8B-B14F-4D97-AF65-F5344CB8AC3E}">
        <p14:creationId xmlns:p14="http://schemas.microsoft.com/office/powerpoint/2010/main" val="136472856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DDFF8-CB97-4D13-8EAE-9B971B29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E029E1-16DC-4234-9479-AC705F1F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Respaldo · métricas completas y variabilidad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6E2277-5C75-41F2-96D5-FE21F7F9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428625" y="1381125"/>
          <a:ext xmlns:a="http://schemas.openxmlformats.org/drawingml/2006/main" cx="11334750" cy="2286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89125"/>
                <a:gridCol w="1889125"/>
                <a:gridCol w="1889125"/>
                <a:gridCol w="1889125"/>
                <a:gridCol w="1889125"/>
                <a:gridCol w="1889125"/>
              </a:tblGrid>
              <a:tr h="7620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CV exactitud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CV F1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Prueba precisión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Prueba recall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Prueba log-loss</a:t>
                      </a:r>
                    </a:p>
                  </a:txBody>
                  <a:tcPr marL="91440" marR="91440" marT="45720" marB="45720">
                    <a:solidFill>
                      <a:srgbClr val="0D253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Softmax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89.06% ± 0.22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89.02% ± 0.22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92.19%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92.22%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0.280</a:t>
                      </a:r>
                    </a:p>
                  </a:txBody>
                  <a:tcPr marL="91440" marR="91440" marT="45720" marB="45720"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Graph-MLP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91.35% ± 0.39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91.32% ± 0.39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95.52%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95.52%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0.152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23EEF6-F2D5-4137-B75D-0D43CBB1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862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La desviación estándar entre pliegues es menor a 0.4 puntos para ambos modelos.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5A863-C0B6-4F13-B8C0-2CE083A1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43500"/>
            <a:ext cx="895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Semilla 2026 · CV estratificada · mismos índices · prueba oficial intacta</a:t>
            </a:r>
          </a:p>
        </p:txBody>
      </p:sp>
    </p:spTree>
    <p:extLst>
      <p:ext uri="{BB962C8B-B14F-4D97-AF65-F5344CB8AC3E}">
        <p14:creationId xmlns:p14="http://schemas.microsoft.com/office/powerpoint/2010/main" val="169500741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794661-5C27-4CEF-BE1B-0A2AFAB7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A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E4A0A5-32C1-44DF-9BA0-1CA127667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Respaldo · qué se corrigió y cómo reproducir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1199CC-8763-45D7-8A23-F610259F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5603D2-BA50-4E57-89AF-235DC18C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2994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2994A"/>
                </a:solidFill>
                <a:latin typeface="Arial"/>
                <a:ea typeface="Arial"/>
                <a:cs typeface="Arial"/>
              </a:rPr>
              <a:t>Error original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BC13B1-4744-4E0F-8BE4-78363162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4762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4F8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2D3053-9472-4335-A0DF-FEA20E5A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einsum('nn,bnf→bnf')</a:t>
            </a:r>
          </a:p>
          <a:p xmlns:a="http://schemas.openxmlformats.org/drawingml/2006/main">
            <a:pPr algn="ctr"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seleccionaba diag(A) =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40C97-8FF0-4EEA-A9B1-88B05577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76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3A89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3A89E"/>
                </a:solidFill>
                <a:latin typeface="Arial"/>
                <a:ea typeface="Arial"/>
                <a:cs typeface="Arial"/>
              </a:rPr>
              <a:t>Corrección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FBA162-CB80-490D-B42E-04A832B2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47875"/>
            <a:ext cx="4762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DDF5F2"/>
          </a:solidFill>
          <a:ln xmlns:a="http://schemas.openxmlformats.org/drawingml/2006/main" w="9525">
            <a:solidFill>
              <a:srgbClr val="D8E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0EA72E-29B7-4F89-8D94-AA08B83A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33625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Suma de ocho vecinos</a:t>
            </a:r>
          </a:p>
          <a:p xmlns:a="http://schemas.openxmlformats.org/drawingml/2006/main">
            <a:pPr algn="ctr">
              <a:defRPr sz="19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+ normalización por grado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15A049-AEF6-43B6-B198-1EFA9CC6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Orden de ejecución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F7704D-AB14-422E-AE76-1C4D878D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F80ED"/>
                </a:solidFill>
                <a:latin typeface="Arial"/>
                <a:ea typeface="Arial"/>
                <a:cs typeface="Arial"/>
              </a:rPr>
              <a:t>01_exploracion.ipynb → 02_modelos.ipynb → 03_validacion.ipynb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6C16A-852D-415E-889D-B76A8BA2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292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Sin rutas personales · datos incluidos · NumPy · README · LICENSE</a:t>
            </a:r>
          </a:p>
        </p:txBody>
      </p:sp>
    </p:spTree>
    <p:extLst>
      <p:ext uri="{BB962C8B-B14F-4D97-AF65-F5344CB8AC3E}">
        <p14:creationId xmlns:p14="http://schemas.microsoft.com/office/powerpoint/2010/main" val="13283729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2026-08-09T18:13:37.7590000Z</dcterms:created>
  <dcterms:modified xsi:type="dcterms:W3CDTF">2026-08-09T18:13:37.7600000Z</dcterms:modified>
</coreProperties>
</file>