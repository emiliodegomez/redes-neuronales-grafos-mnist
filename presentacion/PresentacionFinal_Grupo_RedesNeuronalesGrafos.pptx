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f3eee7ea3845b7" /><Relationship Type="http://schemas.openxmlformats.org/officeDocument/2006/relationships/extended-properties" Target="/docProps/app.xml" Id="R931d61cd3dd74981" /><Relationship Type="http://schemas.openxmlformats.org/officeDocument/2006/relationships/officeDocument" Target="/ppt/presentation.xml" Id="R9bcc19a40cdf4f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c8de7e41ec4033"/>
  </p:sldMasterIdLst>
  <p:notesMasterIdLst>
    <p:notesMasterId xmlns:r="http://schemas.openxmlformats.org/officeDocument/2006/relationships" r:id="Rb4c81f9e865941c5"/>
  </p:notesMasterIdLst>
  <p:sldIdLst>
    <p:sldId xmlns:r="http://schemas.openxmlformats.org/officeDocument/2006/relationships" id="256" r:id="R80d4fefb2ad84c9c"/>
    <p:sldId xmlns:r="http://schemas.openxmlformats.org/officeDocument/2006/relationships" id="257" r:id="R3508daa134a546d1"/>
    <p:sldId xmlns:r="http://schemas.openxmlformats.org/officeDocument/2006/relationships" id="258" r:id="Rb1145e02880d45dc"/>
    <p:sldId xmlns:r="http://schemas.openxmlformats.org/officeDocument/2006/relationships" id="259" r:id="Rd0f0232a0678499d"/>
    <p:sldId xmlns:r="http://schemas.openxmlformats.org/officeDocument/2006/relationships" id="260" r:id="R954104fb7fce4909"/>
    <p:sldId xmlns:r="http://schemas.openxmlformats.org/officeDocument/2006/relationships" id="261" r:id="Ra29e51cf3ad7448e"/>
    <p:sldId xmlns:r="http://schemas.openxmlformats.org/officeDocument/2006/relationships" id="262" r:id="Ree908b4b5b974a8a"/>
    <p:sldId xmlns:r="http://schemas.openxmlformats.org/officeDocument/2006/relationships" id="263" r:id="R1d0a962f0dee4a16"/>
    <p:sldId xmlns:r="http://schemas.openxmlformats.org/officeDocument/2006/relationships" id="264" r:id="R6f5cb33008f14853"/>
    <p:sldId xmlns:r="http://schemas.openxmlformats.org/officeDocument/2006/relationships" id="265" r:id="Radcbe6b1e8ef4c3d"/>
    <p:sldId xmlns:r="http://schemas.openxmlformats.org/officeDocument/2006/relationships" id="266" r:id="R60257372645349c0"/>
    <p:sldId xmlns:r="http://schemas.openxmlformats.org/officeDocument/2006/relationships" id="267" r:id="Rfdffe6eadad24e67"/>
    <p:sldId xmlns:r="http://schemas.openxmlformats.org/officeDocument/2006/relationships" id="268" r:id="R63ac272e1342465f"/>
    <p:sldId xmlns:r="http://schemas.openxmlformats.org/officeDocument/2006/relationships" id="269" r:id="R2569573867f84ba3"/>
    <p:sldId xmlns:r="http://schemas.openxmlformats.org/officeDocument/2006/relationships" id="270" r:id="R30c002c6de6f43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b2708445a47ed" /><Relationship Type="http://schemas.openxmlformats.org/officeDocument/2006/relationships/slideMaster" Target="/ppt/slideMasters/slideMaster1.xml" Id="Ra1c8de7e41ec4033" /><Relationship Type="http://schemas.openxmlformats.org/officeDocument/2006/relationships/notesMaster" Target="/ppt/notesMasters/notesMaster1.xml" Id="Rb4c81f9e865941c5" /><Relationship Type="http://schemas.openxmlformats.org/officeDocument/2006/relationships/presProps" Target="/ppt/presProps.xml" Id="R98e0a191cbd34a8a" /><Relationship Type="http://schemas.openxmlformats.org/officeDocument/2006/relationships/tableStyles" Target="/ppt/tableStyles.xml" Id="Re3a6934febef4610" /><Relationship Type="http://schemas.openxmlformats.org/officeDocument/2006/relationships/slide" Target="/ppt/slides/slide1.xml" Id="R80d4fefb2ad84c9c" /><Relationship Type="http://schemas.openxmlformats.org/officeDocument/2006/relationships/slide" Target="/ppt/slides/slide2.xml" Id="R3508daa134a546d1" /><Relationship Type="http://schemas.openxmlformats.org/officeDocument/2006/relationships/slide" Target="/ppt/slides/slide3.xml" Id="Rb1145e02880d45dc" /><Relationship Type="http://schemas.openxmlformats.org/officeDocument/2006/relationships/slide" Target="/ppt/slides/slide4.xml" Id="Rd0f0232a0678499d" /><Relationship Type="http://schemas.openxmlformats.org/officeDocument/2006/relationships/slide" Target="/ppt/slides/slide5.xml" Id="R954104fb7fce4909" /><Relationship Type="http://schemas.openxmlformats.org/officeDocument/2006/relationships/slide" Target="/ppt/slides/slide6.xml" Id="Ra29e51cf3ad7448e" /><Relationship Type="http://schemas.openxmlformats.org/officeDocument/2006/relationships/slide" Target="/ppt/slides/slide7.xml" Id="Ree908b4b5b974a8a" /><Relationship Type="http://schemas.openxmlformats.org/officeDocument/2006/relationships/slide" Target="/ppt/slides/slide8.xml" Id="R1d0a962f0dee4a16" /><Relationship Type="http://schemas.openxmlformats.org/officeDocument/2006/relationships/slide" Target="/ppt/slides/slide9.xml" Id="R6f5cb33008f14853" /><Relationship Type="http://schemas.openxmlformats.org/officeDocument/2006/relationships/slide" Target="/ppt/slides/slide10.xml" Id="Radcbe6b1e8ef4c3d" /><Relationship Type="http://schemas.openxmlformats.org/officeDocument/2006/relationships/slide" Target="/ppt/slides/slide11.xml" Id="R60257372645349c0" /><Relationship Type="http://schemas.openxmlformats.org/officeDocument/2006/relationships/slide" Target="/ppt/slides/slide12.xml" Id="Rfdffe6eadad24e67" /><Relationship Type="http://schemas.openxmlformats.org/officeDocument/2006/relationships/slide" Target="/ppt/slides/slide13.xml" Id="R63ac272e1342465f" /><Relationship Type="http://schemas.openxmlformats.org/officeDocument/2006/relationships/slide" Target="/ppt/slides/slide14.xml" Id="R2569573867f84ba3" /><Relationship Type="http://schemas.openxmlformats.org/officeDocument/2006/relationships/slide" Target="/ppt/slides/slide15.xml" Id="R30c002c6de6f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134ba8194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a54258221c4e0e" /><Relationship Type="http://schemas.openxmlformats.org/officeDocument/2006/relationships/notesMaster" Target="/ppt/notesMasters/notesMaster1.xml" Id="R1b3637a8529f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05e30debe408e" /><Relationship Type="http://schemas.openxmlformats.org/officeDocument/2006/relationships/notesMaster" Target="/ppt/notesMasters/notesMaster1.xml" Id="R7902408aaea5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e2cd1a2c0947eb" /><Relationship Type="http://schemas.openxmlformats.org/officeDocument/2006/relationships/notesMaster" Target="/ppt/notesMasters/notesMaster1.xml" Id="R1477a782fcb4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f329a95b2d4865" /><Relationship Type="http://schemas.openxmlformats.org/officeDocument/2006/relationships/notesMaster" Target="/ppt/notesMasters/notesMaster1.xml" Id="Rcae2e76a8b6843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827b3ac604304" /><Relationship Type="http://schemas.openxmlformats.org/officeDocument/2006/relationships/notesMaster" Target="/ppt/notesMasters/notesMaster1.xml" Id="Rdf65fe42456749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34fbc3fea4022" /><Relationship Type="http://schemas.openxmlformats.org/officeDocument/2006/relationships/notesMaster" Target="/ppt/notesMasters/notesMaster1.xml" Id="Rdc01eec12fe248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a89955c89421d" /><Relationship Type="http://schemas.openxmlformats.org/officeDocument/2006/relationships/notesMaster" Target="/ppt/notesMasters/notesMaster1.xml" Id="R138811b1ce0b41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ffb07fa68d4b2f" /><Relationship Type="http://schemas.openxmlformats.org/officeDocument/2006/relationships/notesMaster" Target="/ppt/notesMasters/notesMaster1.xml" Id="Rb7ee92fd5785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601e87925b45a6" /><Relationship Type="http://schemas.openxmlformats.org/officeDocument/2006/relationships/notesMaster" Target="/ppt/notesMasters/notesMaster1.xml" Id="Rbe5acb72851d49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cdc6ab369a4d27" /><Relationship Type="http://schemas.openxmlformats.org/officeDocument/2006/relationships/notesMaster" Target="/ppt/notesMasters/notesMaster1.xml" Id="R8dc76c7c953e46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d858d86f8e4708" /><Relationship Type="http://schemas.openxmlformats.org/officeDocument/2006/relationships/notesMaster" Target="/ppt/notesMasters/notesMaster1.xml" Id="R68e3fc7459f84e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40a61c6e7c4927" /><Relationship Type="http://schemas.openxmlformats.org/officeDocument/2006/relationships/notesMaster" Target="/ppt/notesMasters/notesMaster1.xml" Id="R2229bcdba8cd4b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9919b476ca4073" /><Relationship Type="http://schemas.openxmlformats.org/officeDocument/2006/relationships/notesMaster" Target="/ppt/notesMasters/notesMaster1.xml" Id="R13958dbb10f94b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20505c4ed453e" /><Relationship Type="http://schemas.openxmlformats.org/officeDocument/2006/relationships/notesMaster" Target="/ppt/notesMasters/notesMaster1.xml" Id="Rd1809109765f4d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70f707072a4765" /><Relationship Type="http://schemas.openxmlformats.org/officeDocument/2006/relationships/notesMaster" Target="/ppt/notesMasters/notesMaster1.xml" Id="R0974969ee813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pregunta: si un dígito es un conjunto de píxeles conectados, ¿ganamos algo al modelar explícitamente esos vecinos? Presentar al grupo sin leer la lista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https://tsapps.nist.gov/BDbC/Search/Details/387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problema concreto antes de nombrar el modelo. Aclarar que no se entrenó con documentos costarricenses y que la relevancia nacional es una aplicación potencial, no un resultado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https://arxiv.org/abs/1609.02907</a:t>
            </a:r>
          </a:p>
          <a:p xmlns:a="http://schemas.openxmlformats.org/drawingml/2006/main">
            <a:r>
              <a:t>- https://tsapps.nist.gov/BDbC/Search/Details/387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Enunciar el objetivo general y usar los cuatro verbos como objetivos específicos. Anticipar que el análisis de sensibilidad será tan importante como la métrica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Mencionar fuente, tamaños y el hecho de que la prueba no participa en selección. Explicar que el balance razonable permite exactitud, pero que se prioriza F1 macro.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https://tsapps.nist.gov/BDbC/Search/Details/387</a:t>
            </a:r>
          </a:p>
          <a:p xmlns:a="http://schemas.openxmlformats.org/drawingml/2006/main">
            <a:r>
              <a:t>- https://yann.lecun.com/exdb/mnist/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figura: diversidad de trazos y balance. Señalar que el centrado fuerte facilita la tarea y limita la validez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https://tsapps.nist.gov/BDbC/Search/Details/387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la ecuación símbolo por símbolo. Explicar que cada paso conserva parte del píxel y agrega el promedio local. Mostrar por qué el einsum anterior daba cero: A no tenía auto-aristas y se seleccionó solo su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https://arxiv.org/abs/1511.05493</a:t>
            </a:r>
          </a:p>
          <a:p xmlns:a="http://schemas.openxmlformats.org/drawingml/2006/main">
            <a:r>
              <a:t>- https://arxiv.org/abs/1609.02907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Defender por qué cuentan como modelos distintos: uno supone separabilidad lineal y no usa relaciones; el otro incorpora contexto local y una frontera no lineal. Reconocer que la capacidad también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</a:t>
            </a:r>
          </a:p>
          <a:p xmlns:a="http://schemas.openxmlformats.org/drawingml/2006/main">
            <a:r>
              <a:t>- https://arxiv.org/abs/1609.02907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validación como un diagrama: mismo muestreo, mismos pliegues, prueba cerrada. Definir F1 macro en una frase: calcula F1 por dígito y promedia sin favorecer clases grandes.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Decir los números en voz alta y su significado. Elegir Graph-MLP como prototipo por F1 y log-loss, pero no atribuir toda la mejora al grafo: también agrega no linealidad.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D:/Archivo_EMILIO/Entrega_Final_GNN_MNIST/data/processed/resultados.json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filas como clase real y columnas como predicción. Señalar que los errores tienen sentido visual: cierre de bucles, inclinación y trazos parecidos. Conectar esto con revisión humana para baja confianza.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D:/Archivo_EMILIO/Entrega_Final_GNN_MNIST/data/processed/resultados.json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diapositiva más importante después de resultados. Explicar tres hallazgos: L2 casi no mueve la métrica; muchos pasos causan over-smoothing; el tamaño muestral domina. Reconocer la ablación T=0.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D:/Archivo_EMILIO/Entrega_Final_GNN_MNIST/data/processed/resultados.json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Reconocer límites suma credibilidad. Separar privacidad de sesgo: MNIST no trae identificadores, pero la escritura vinculada a formularios sí podría ser reidentificable. Un error en montos o expedientes puede causar daño.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https://doi.org/10.1145/3287560.3287596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la frase final y dejar esta diapositiva visible durante preguntas. Responder objetivos: representación, comparación, sensibilidad y salvaguardas. No mostrar una diapositiva de “gracias”.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D:/Archivo_EMILIO/Entrega_Final_GNN_MNIST/data/processed/resultados.json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si preguntan por métricas adicionales o variabilidad.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D:/Archivo_EMILIO/Entrega_Final_GNN_MNIST/data/processed/resultados.json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si preguntan por la línea problemática o reproducibilidad. Explicar que la nueva suma de vecinos es algebraicamente D^-1 A H, pero evita construir la matriz densa.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D:/Archivo_EMILIO/Entrega_Final_GNN_MNIST/src/modelado_mnist.py</a:t>
            </a:r>
          </a:p>
          <a:p xmlns:a="http://schemas.openxmlformats.org/drawingml/2006/main">
            <a:r>
              <a:t>- D:/Archivo_EMILIO/Entrega_Final_GNN_MNIST/README.md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ad1efa456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7d08c60a648b4" /><Relationship Type="http://schemas.openxmlformats.org/officeDocument/2006/relationships/slideLayout" Target="/ppt/slideLayouts/slideLayout1.xml" Id="R50cd9cc6ccbb4e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d9cc6ccbb4e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3cc9fcf243ee" /><Relationship Type="http://schemas.openxmlformats.org/officeDocument/2006/relationships/notesSlide" Target="/ppt/notesSlides/notesSlide1.xml" Id="R4e0e8ce00dc745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d26bc7fb46e7" /><Relationship Type="http://schemas.openxmlformats.org/officeDocument/2006/relationships/notesSlide" Target="/ppt/notesSlides/notesSlide2.xml" Id="Re295aea3e2a5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f34c279734e8d" /><Relationship Type="http://schemas.openxmlformats.org/officeDocument/2006/relationships/notesSlide" Target="/ppt/notesSlides/notesSlide3.xml" Id="R73f9b3af07d9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99996d4b4876" /><Relationship Type="http://schemas.openxmlformats.org/officeDocument/2006/relationships/notesSlide" Target="/ppt/notesSlides/notesSlide4.xml" Id="R817ef0b73e7c41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acd2455cd4153" /><Relationship Type="http://schemas.openxmlformats.org/officeDocument/2006/relationships/image" Target="/ppt/media/image.png" Id="R2afbd4057f104a22" /><Relationship Type="http://schemas.openxmlformats.org/officeDocument/2006/relationships/notesSlide" Target="/ppt/notesSlides/notesSlide5.xml" Id="R1f0c07104dec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27a44cca44643" /><Relationship Type="http://schemas.openxmlformats.org/officeDocument/2006/relationships/notesSlide" Target="/ppt/notesSlides/notesSlide6.xml" Id="Rd5173fb9313c4c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c4a96dc6e49ea" /><Relationship Type="http://schemas.openxmlformats.org/officeDocument/2006/relationships/notesSlide" Target="/ppt/notesSlides/notesSlide7.xml" Id="R252448ed9010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fec51cd5a485b" /><Relationship Type="http://schemas.openxmlformats.org/officeDocument/2006/relationships/notesSlide" Target="/ppt/notesSlides/notesSlide8.xml" Id="R1d473da1023445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7232d4bc34552" /><Relationship Type="http://schemas.openxmlformats.org/officeDocument/2006/relationships/notesSlide" Target="/ppt/notesSlides/notesSlide9.xml" Id="Rd2bc8e49c4c143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5714248f4b0d" /><Relationship Type="http://schemas.openxmlformats.org/officeDocument/2006/relationships/image" Target="/ppt/media/image2.png" Id="R785367ca3e4247ee" /><Relationship Type="http://schemas.openxmlformats.org/officeDocument/2006/relationships/notesSlide" Target="/ppt/notesSlides/notesSlide10.xml" Id="R74d15965219b46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3d8a0a9847f6" /><Relationship Type="http://schemas.openxmlformats.org/officeDocument/2006/relationships/chart" Target="/ppt/slides/charts/chart1.xml" Id="R1e5fe20a545f4405" /><Relationship Type="http://schemas.openxmlformats.org/officeDocument/2006/relationships/notesSlide" Target="/ppt/notesSlides/notesSlide11.xml" Id="Rdb315eee673640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0bcd1becc43e2" /><Relationship Type="http://schemas.openxmlformats.org/officeDocument/2006/relationships/notesSlide" Target="/ppt/notesSlides/notesSlide12.xml" Id="Rcab85b0ec0d7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66391f64d4f98" /><Relationship Type="http://schemas.openxmlformats.org/officeDocument/2006/relationships/notesSlide" Target="/ppt/notesSlides/notesSlide13.xml" Id="R57717b4a5b374e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85e6926494623" /><Relationship Type="http://schemas.openxmlformats.org/officeDocument/2006/relationships/notesSlide" Target="/ppt/notesSlides/notesSlide14.xml" Id="R1b57d98313734e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8516d4584a64" /><Relationship Type="http://schemas.openxmlformats.org/officeDocument/2006/relationships/notesSlide" Target="/ppt/notesSlides/notesSlide15.xml" Id="R7b22ac8cb4794f6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F1 macro</c:v>
          </c:tx>
          <c:spPr>
            <a:ln xmlns:a="http://schemas.openxmlformats.org/drawingml/2006/main" w="47625">
              <a:solidFill>
                <a:srgbClr val="F2994A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994A"/>
              </a:solidFill>
            </c:spPr>
          </c:marker>
          <c:cat>
            <c:strLit>
              <c:ptCount val="3"/>
              <c:pt idx="0">
                <c:v>5k</c:v>
              </c:pt>
              <c:pt idx="1">
                <c:v>10k</c:v>
              </c:pt>
              <c:pt idx="2">
                <c:v>15k</c:v>
              </c:pt>
            </c:strLit>
          </c:cat>
          <c:val>
            <c:numLit>
              <c:formatCode>General</c:formatCode>
              <c:ptCount val="3"/>
              <c:pt idx="0">
                <c:v>88.82</c:v>
              </c:pt>
              <c:pt idx="1">
                <c:v>92.16</c:v>
              </c:pt>
              <c:pt idx="2">
                <c:v>92.59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6324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5"/>
          <c:min val="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F1 macro (%)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16AEC-D2BF-4491-A25D-0AD91BB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E67C6-9D51-45EF-A093-DB38C531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CE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CEAE5"/>
                </a:solidFill>
                <a:latin typeface="Arial"/>
                <a:ea typeface="Arial"/>
                <a:cs typeface="Arial"/>
              </a:rPr>
              <a:t>REDES NEURONALES SOBRE GRAFOS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7806A-3417-4968-8624-EA73BC05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Clasificar dígitos con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B1E84-2B99-4583-BCE7-EC0F8B6F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FE0E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FE0EC"/>
                </a:solidFill>
                <a:latin typeface="Arial"/>
                <a:ea typeface="Arial"/>
                <a:cs typeface="Arial"/>
              </a:rPr>
              <a:t>Softmax vs. Graph-MLP · MNIST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50B1B-1676-4DE1-AA40-99E33F6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4211-EE6C-46AC-9C07-75A251C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Diego Díaz · Bairon Horna · Ignacio Marín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Jordan López · Aaron Medrano · Emilio de Gomez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B7F75-6CCE-4946-9BAD-03DEA57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0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FE0EC"/>
                </a:solidFill>
                <a:latin typeface="Arial"/>
                <a:ea typeface="Arial"/>
                <a:cs typeface="Arial"/>
              </a:rPr>
              <a:t>BCD5105 Modelado matemático · Lead University · 19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013751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78D10-5BC0-47E7-89FC-8495931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ABEFA-E66B-49A3-A283-08FD8E1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Los trazos importan más que los píxeles aislados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684E5-5548-4E48-A851-E5A4D350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93A34-4489-4179-9990-F510661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Una imagen es una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F7233-1CE7-4DAF-906E-CE7C6E8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Cada píxel es un nodo. Las aristas conectan ocho vecinos. El patrón útil está en la continuidad del trazo.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0C347-1A98-4036-A7C5-FBC28DBB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239000" y="2381250"/>
            <a:ext cx="13335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572500" y="2381250"/>
            <a:ext cx="1333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7239000" y="2476500"/>
            <a:ext cx="2857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7524750" y="2381250"/>
            <a:ext cx="10477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8572500" y="2381250"/>
            <a:ext cx="2857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8858250" y="2667000"/>
            <a:ext cx="1047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9906000" y="2667000"/>
            <a:ext cx="2857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524750" y="37147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858250" y="3714750"/>
            <a:ext cx="13335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CB4C7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1152A-08FA-47C3-ACB4-A14499F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05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0CBBA-9C5A-4418-87A6-507E2B7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6B1A1-0B77-4821-8BE5-74A94376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95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1CE7A-B293-4FCB-A65E-028712B7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0987B-3CF2-4964-A3B1-BFB2EEC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7BC70-F71C-4724-B139-4821A94D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C328F-8B51-49EF-A6FF-99967FE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En Costa Rica podría apoyar la transcripción de formularios y registros; MNIST solo es una prueba de concepto.</a:t>
            </a:r>
          </a:p>
        </p:txBody>
      </p:sp>
    </p:spTree>
    <p:extLst>
      <p:ext uri="{BB962C8B-B14F-4D97-AF65-F5344CB8AC3E}">
        <p14:creationId xmlns:p14="http://schemas.microsoft.com/office/powerpoint/2010/main" val="18970701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E2628-279E-43E5-A6A2-284B771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BFC6-038C-41C9-AEE4-B361B643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La pregunta es comparativa, no promocional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2F002-05F5-49E7-80B2-68B0245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4129D-87FB-4FEA-BF62-ED5C89F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¿Incorporar vecindad local y una frontera no lineal mejora la clasificación frente a un modelo lineal?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7BE0E-6F0A-439A-BEE5-8923272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B949D-0A4E-4367-BD9A-D45670F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98B35-B0A5-4CA3-8B67-15C650EC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Representar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9F910-8F86-4D32-9D58-7BC38FB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MNIST como grafo de 784 nodos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A75AF-E6E9-432E-B09B-833161B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432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BB6C8-5B36-4EA7-BB01-A406EE24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33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80DF7-CA19-41CA-A4B2-A2731933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24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712F7-5B02-4288-9C05-41E3325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29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Softmax y Graph-MLP en los mismos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E22C8-F511-491A-9119-CC159C0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F56F3-D860-4F7B-87E0-853E9B59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5058F-2A25-460D-B0DB-D1A0C03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DD69-4BB5-411A-9F08-033A2A99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F1 macro, pérdida y tres pliegues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44914-30E3-41C3-B799-7D5B4159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381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35148-2548-463F-995A-BE5103A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C0BDF-10B0-4B91-AD2A-E5D2C86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24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Tensionar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C1E47-5451-4D4A-8B0B-5C0706C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29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L2, propagación y tamaño muestral</a:t>
            </a:r>
          </a:p>
        </p:txBody>
      </p:sp>
    </p:spTree>
    <p:extLst>
      <p:ext uri="{BB962C8B-B14F-4D97-AF65-F5344CB8AC3E}">
        <p14:creationId xmlns:p14="http://schemas.microsoft.com/office/powerpoint/2010/main" val="12799080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8563C-22FB-4267-A985-E1D8A77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CDA9C-F43D-4785-897C-33B0645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70,000 imágenes; la prueba oficial queda cerrada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C59F0-5CF8-4593-880B-D992F4F5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7143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85938"/>
                <a:gridCol w="1785938"/>
                <a:gridCol w="1785938"/>
                <a:gridCol w="1785938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Rango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x_train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60,000×28×28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0–255 → [0,1]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Ajuste / CV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y_train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60,000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0–9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Etiqueta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x_test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10,000×28×28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0–255 → [0,1]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Prueba final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y_test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0–9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Referencia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44540-F75F-426C-9527-64B01C4D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8A45-686C-40C1-B234-288ADCD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1.24×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5369-1196-4017-8351-33D7A7A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clase mayor / menor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DC169-EDB6-4626-8CB0-72B6FFB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3048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1AE5A-D3DF-4AB6-8ED1-2DB2F37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0CC0E-88D9-4C04-8188-8B9FBF7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semilla fija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31060-1B51-4C34-A6B8-0E805A5B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Sin faltantes, sin imputación y sin usar etiquetas durante la propagación.</a:t>
            </a:r>
          </a:p>
        </p:txBody>
      </p:sp>
    </p:spTree>
    <p:extLst>
      <p:ext uri="{BB962C8B-B14F-4D97-AF65-F5344CB8AC3E}">
        <p14:creationId xmlns:p14="http://schemas.microsoft.com/office/powerpoint/2010/main" val="16434602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9111-8A0A-4395-922D-0DBCBC04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799C8-5C36-4B70-8751-10CD11B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Las clases están balanceadas y los trazos conservan geometría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D9F5A-E309-4350-98D1-591FD8A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bd4057f104a22"/>
          <a:stretch xmlns:a="http://schemas.openxmlformats.org/drawingml/2006/main"/>
        </p:blipFill>
        <p:spPr>
          <a:xfrm xmlns:a="http://schemas.openxmlformats.org/drawingml/2006/main">
            <a:off x="2159000" y="1381125"/>
            <a:ext cx="787400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DB6C-AEB4-411A-868B-BE0F0786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La clase 1 tiene 6,742 ejemplos; la 5, 5,421. Las diagonales justifican ocho vecinos.</a:t>
            </a:r>
          </a:p>
        </p:txBody>
      </p:sp>
    </p:spTree>
    <p:extLst>
      <p:ext uri="{BB962C8B-B14F-4D97-AF65-F5344CB8AC3E}">
        <p14:creationId xmlns:p14="http://schemas.microsoft.com/office/powerpoint/2010/main" val="17519625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99E72-AA25-4308-A415-9D1197E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AB893-669A-453F-8EEE-F4E433C0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Dos pasos mezclan señal propia y vecindad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96447-21AD-4262-8F32-2BAE918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25339-4F8B-42A4-93A3-38F73E5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C247E-97B2-4DE4-9448-C5DE8BD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H(t+1) = (1 − α)H(t) + α D⁻¹ A H(t)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E6A4F-6A14-471C-B023-E884D7F8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H(0)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ADA65-9C9F-4695-BD3E-0FEB7B6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Intensidad del píxel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9E8E5-B115-45DB-A8E6-DA292F62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D⁻¹AH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E9253-2BEF-4DA5-B41D-1FF0836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Promedio de ocho vecinos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7B913-C4AC-4B0B-A2A6-1EC0C37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α = 0.35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68B41-D14C-4F6C-8FA9-9E26997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Conserva 65% propio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5B451-2330-4C5D-BE5A-8B9D504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T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C359B-A39C-4827-ADE8-B9E97671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528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Evita sobre-suavizado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C7860-95FA-4DB2-96AC-B94C1454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El prototipo original usó einsum('nn,…'): tomó la diagonal nula de A y eliminó todos los mensajes.</a:t>
            </a:r>
          </a:p>
        </p:txBody>
      </p:sp>
    </p:spTree>
    <p:extLst>
      <p:ext uri="{BB962C8B-B14F-4D97-AF65-F5344CB8AC3E}">
        <p14:creationId xmlns:p14="http://schemas.microsoft.com/office/powerpoint/2010/main" val="556623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C9576-8155-449C-B105-5EE043D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C78C8-E05A-41AA-906B-40A01CAB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Los modelos parten de supuestos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CB081-0951-4639-8E2E-946743B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7C614-7622-4049-92CD-BE784081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43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C9956-70D7-466C-BD65-A525876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BEE6F-7CBF-427A-A789-A7C1460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Frontera lineal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DE54C-6671-41E5-B237-C8AA6A05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784 intensidades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7,850 parámetros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L2 = 10⁻⁴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Adam, lr = 0.002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12310-C7E1-4018-8956-CD7BB9E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143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EB421-CC9D-4B7B-925B-C12879B1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Graph-MLP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210E6-F1E2-4733-956C-2A22459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Contexto local + ReLU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7EAD3-7496-4939-8885-140FF34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Propagación T = 2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64 unidades ocultas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≈ 50,900 parámetros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Adam, lr = 0.001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E51D9-F8CF-4B34-8639-BB862595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Ambos: 12 épocas · lotes de 256 · semilla 2026</a:t>
            </a:r>
          </a:p>
        </p:txBody>
      </p:sp>
    </p:spTree>
    <p:extLst>
      <p:ext uri="{BB962C8B-B14F-4D97-AF65-F5344CB8AC3E}">
        <p14:creationId xmlns:p14="http://schemas.microsoft.com/office/powerpoint/2010/main" val="18414992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26098-46D0-42D9-845E-5E76DEA8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2ABCA-8468-4C54-B011-08616396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La comparación usa los mismos pliegues y la misma prueba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7474-893A-4E8B-B58E-39E53F0B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143250" y="31908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3A89E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6381750" y="31908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3A89E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2974-EF45-48B5-B33D-D696002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175C7-E92C-4EDD-BB99-053CE9B7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A1A8E-F7D3-4061-88A4-C6CE8F3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12,000 estratificados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065FB-E34F-4999-AC34-547990C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muestra para 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9BCC0-AFC4-45CA-8E02-FF432374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31FF9-F940-49E2-97EC-55E6DF9B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D2A7F-5EAD-49D4-8294-799B612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3 pliegues comunes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A19AB-B25E-4D07-A48F-ED740C2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cada dato valida una vez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8C280-0056-4A9D-9B80-7B9BE8B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9075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788AF-2B40-4A14-AFCB-97EFA0D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1BB11-68FF-480E-8392-73C013F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10,000 de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0BEC3-F8BB-4354-987D-49BEFF30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evaluación final única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12E1F-74B6-44B3-8100-478B0CA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Métrica principal: F1 macro · Apoyo: exactitud, precisión, exhaustividad y log-loss</a:t>
            </a:r>
          </a:p>
        </p:txBody>
      </p:sp>
    </p:spTree>
    <p:extLst>
      <p:ext uri="{BB962C8B-B14F-4D97-AF65-F5344CB8AC3E}">
        <p14:creationId xmlns:p14="http://schemas.microsoft.com/office/powerpoint/2010/main" val="19159069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84807-3FD1-42BE-9CF9-E0CE827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E4564-C57D-498F-929D-FCE4FE25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Graph-MLP gana 3.31 puntos de F1 en prueba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39096-AB1D-424C-BAFE-FB2F6C16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28850"/>
                <a:gridCol w="2228850"/>
                <a:gridCol w="2228850"/>
                <a:gridCol w="2228850"/>
                <a:gridCol w="2228850"/>
              </a:tblGrid>
              <a:tr h="698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F1 macro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Exactitud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prueba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Log-loss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Softmax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89.02% ± 0.22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92.30%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92.19%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0.280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Graph-MLP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91.32% ± 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95.56%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95.51%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204DE-316C-4D66-AF8E-A47FD068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31A8-CE53-4C67-9589-DAAAEFD3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+3.31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12DAB-934F-4BF5-A141-2A84B0C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puntos de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822DB-7831-4743-995A-D83FDD5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B2182-C53D-41AF-A85B-AF4C8705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−45.7%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7E5A7-2F25-48E9-BB30-3C591302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pérdida logarítmica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6DC34-78F1-4F6A-A4D9-17201418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ECE88-B950-423F-998E-68438B46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3 /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3830F-0C42-4D3C-9F8F-B3CCD037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pliegues favorables</a:t>
            </a:r>
          </a:p>
        </p:txBody>
      </p:sp>
    </p:spTree>
    <p:extLst>
      <p:ext uri="{BB962C8B-B14F-4D97-AF65-F5344CB8AC3E}">
        <p14:creationId xmlns:p14="http://schemas.microsoft.com/office/powerpoint/2010/main" val="12372161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7C3DF-9F4D-481D-A8C7-52715844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C21B0-8BAA-4422-B414-7275B132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4 ↔ 9 sigue siendo la confusión más persistente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DB05C-E9EA-45B4-8479-8D25BE8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367ca3e4247ee"/>
          <a:stretch xmlns:a="http://schemas.openxmlformats.org/drawingml/2006/main"/>
        </p:blipFill>
        <p:spPr>
          <a:xfrm xmlns:a="http://schemas.openxmlformats.org/drawingml/2006/main">
            <a:off x="523875" y="1384102"/>
            <a:ext cx="7524750" cy="42326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BF377-9EE7-4E95-A716-D08D28B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A4E18-77D1-47A6-B1E4-66E65510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Errores principales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3297A-2CF9-4E8C-91C0-178F6AA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 → 9   28 casos</a:t>
            </a:r>
          </a:p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 → 4   28 casos</a:t>
            </a:r>
          </a:p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 → 5   21 casos</a:t>
            </a:r>
          </a:p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 → 5   15 casos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0ECBC-1A02-406E-8F78-625F86D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721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La clase 5 mejora de 88.8% a 95.1% de aciertos.</a:t>
            </a:r>
          </a:p>
        </p:txBody>
      </p:sp>
    </p:spTree>
    <p:extLst>
      <p:ext uri="{BB962C8B-B14F-4D97-AF65-F5344CB8AC3E}">
        <p14:creationId xmlns:p14="http://schemas.microsoft.com/office/powerpoint/2010/main" val="2978499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B06A-51AB-4D09-8FC3-974E699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F81AD-F782-426F-AF0E-26F983E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Más datos ayudan; más propagación termina suavizando de más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CF3CB-C9A1-4AE0-9329-F2AC554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fe20a545f440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AFA92-494D-472C-A72B-2BCFB65B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24162-D6D5-42C7-8A9C-58A144CF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L2 es estable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92E47-9569-4B8C-A598-BB83D0C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92.51% → 92.37%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ABE29-881A-45C9-824B-5E8D728B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00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367C4-3490-47E9-B495-4C34785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T = 0 supera T =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81805-689A-4669-8DD4-B101E543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92.73% → 92.21%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no linealidad aporta más que el suavizado fijo.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289F9-6F86-41B4-AFD2-1B0C5C3C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Conclusión: el modelo es robusto a L2, pero frágil cuando faltan datos.</a:t>
            </a:r>
          </a:p>
        </p:txBody>
      </p:sp>
    </p:spTree>
    <p:extLst>
      <p:ext uri="{BB962C8B-B14F-4D97-AF65-F5344CB8AC3E}">
        <p14:creationId xmlns:p14="http://schemas.microsoft.com/office/powerpoint/2010/main" val="2266612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E1E46-C71B-4BE8-9586-B474FBB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50023-C480-4FD9-BFBF-2D8F7D2E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95.5% en MNIST no autoriza una decisión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C45E2-51AB-4407-9820-2714739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AC3AF-E90A-4266-B063-13AA3F4D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85BE-CA11-4577-9317-B9B8689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Limitaciones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27B2F-155E-4966-805D-4B60400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Dígitos centrados y limpios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Sin escritura costarricense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Propagación fija, no GNN aprendible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Comparación mezcla grafo y no linealidad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Sin auditoría demográfica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7802A-907B-40F5-9DDC-980FE30F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12F0-3B33-42A9-B7F9-1E6EEBDD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Salvaguardas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7F900-BE3C-4382-9A34-602D726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381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Validación local por fuente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Umbral de rechazo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Revisión humana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Conservación de imagen original</a:t>
            </a:r>
          </a:p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Monitoreo de deriva y subgrupos</a:t>
            </a:r>
          </a:p>
        </p:txBody>
      </p:sp>
    </p:spTree>
    <p:extLst>
      <p:ext uri="{BB962C8B-B14F-4D97-AF65-F5344CB8AC3E}">
        <p14:creationId xmlns:p14="http://schemas.microsoft.com/office/powerpoint/2010/main" val="18848414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B5F8E-D4B5-4FF6-BEAE-0A259A58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25BE1-642C-4F6B-9D07-0C21D31D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La siguiente inversión debe ser en datos locales, no en más 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1087C-A3D0-4A17-8F06-49617F2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1B777-F57A-4F68-BC61-63B303D7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4AAA-6DA2-4FA8-A63C-3EDEBF75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Graph-MLP mejora F1 y log-loss, pero la ablación muestra que la no linealidad aporta más que la propagación fija.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8EA7A-0453-4909-BC24-60C7EE8F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Recomendación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7540-17D1-4FAD-910E-E6E5186D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Recolectar 1,000–5,000 dígitos costarricenses, comparar MLP/CNN/GNN con capacidad equivalente y fijar revisión humana.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1B3A9-CA33-4C68-99B1-6160E91F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D2538"/>
          </a:solidFill>
          <a:ln xmlns:a="http://schemas.openxmlformats.org/drawingml/2006/main" w="9525">
            <a:solidFill>
              <a:srgbClr val="0D25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7101A-C327-4A4F-A924-3D5F0AB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prototipo útil no es el que nunca falla; es el que sabe cuándo pedir ayuda.</a:t>
            </a:r>
          </a:p>
        </p:txBody>
      </p:sp>
    </p:spTree>
    <p:extLst>
      <p:ext uri="{BB962C8B-B14F-4D97-AF65-F5344CB8AC3E}">
        <p14:creationId xmlns:p14="http://schemas.microsoft.com/office/powerpoint/2010/main" val="29759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55C30-5525-4117-B759-DE2B1DD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8B432-E21D-4783-AC7E-402D0AC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Respaldo · métricas completas y variabilidad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E5780-A162-42D5-A8AF-B98CF27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1334750" cy="228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89125"/>
                <a:gridCol w="1889125"/>
                <a:gridCol w="1889125"/>
                <a:gridCol w="1889125"/>
                <a:gridCol w="1889125"/>
                <a:gridCol w="1889125"/>
              </a:tblGrid>
              <a:tr h="762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exactitud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F1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Prueba precisión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Prueba recall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Prueba log-loss</a:t>
                      </a:r>
                    </a:p>
                  </a:txBody>
                  <a:tcPr marL="91440" marR="91440" marT="45720" marB="45720">
                    <a:solidFill>
                      <a:srgbClr val="0D253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Softmax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89.06% ± 0.22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89.02% ± 0.22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92.19%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92.22%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0.280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Graph-MLP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91.35% ± 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91.32% ± 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95.52%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95.52%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D776F-243F-4F2E-AB8C-9DA2697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La desviación estándar entre pliegues es menor a 0.4 puntos para ambos modelos.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43177-901D-4273-8720-56F29A7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Semilla 2026 · CV estratificada · mismos índices · prueba oficial intacta</a:t>
            </a:r>
          </a:p>
        </p:txBody>
      </p:sp>
    </p:spTree>
    <p:extLst>
      <p:ext uri="{BB962C8B-B14F-4D97-AF65-F5344CB8AC3E}">
        <p14:creationId xmlns:p14="http://schemas.microsoft.com/office/powerpoint/2010/main" val="16792335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24F35-B36E-43E1-8755-B89F9379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EEEAF-41E3-4C0B-A933-A40B40A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Respaldo · qué se corrigió y cómo reproducir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434BC-2D2F-44DC-A2B1-6CDF748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748D6-57FB-4F24-8EC1-55879F31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99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994A"/>
                </a:solidFill>
                <a:latin typeface="Arial"/>
                <a:ea typeface="Arial"/>
                <a:cs typeface="Arial"/>
              </a:rPr>
              <a:t>Error original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AEA91-253F-4B9F-B5E5-5E6F633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76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33E41-6669-4DD2-ADBB-734E4F0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einsum('nn,bnf→bnf')</a:t>
            </a:r>
          </a:p>
          <a:p xmlns:a="http://schemas.openxmlformats.org/drawingml/2006/main">
            <a:pPr algn="ctr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seleccionaba diag(A)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90C8-AA23-4132-9306-DABA6A9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76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Corrección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CB9FF-0CBC-4C5D-9930-7988974A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76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EF2E4-70B9-4BD8-A71C-CE8A522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Suma de ocho vecinos</a:t>
            </a:r>
          </a:p>
          <a:p xmlns:a="http://schemas.openxmlformats.org/drawingml/2006/main">
            <a:pPr algn="ctr">
              <a:defRPr sz="19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+ normalización por grado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F072C-D854-42C7-81F6-06D6F9A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Orden de ejecución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BE1FB-FFE0-499D-B591-C836E180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01_exploracion.ipynb → 02_modelos.ipynb → 03_validacion.ipynb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B68B5-0539-4500-9015-A7CDF09A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Sin rutas personales · datos incluidos · NumPy · README · LICENSE</a:t>
            </a:r>
          </a:p>
        </p:txBody>
      </p:sp>
    </p:spTree>
    <p:extLst>
      <p:ext uri="{BB962C8B-B14F-4D97-AF65-F5344CB8AC3E}">
        <p14:creationId xmlns:p14="http://schemas.microsoft.com/office/powerpoint/2010/main" val="1745393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2026-08-09T18:25:04.8280000Z</dcterms:created>
  <dcterms:modified xsi:type="dcterms:W3CDTF">2026-08-09T18:25:04.8280000Z</dcterms:modified>
</coreProperties>
</file>