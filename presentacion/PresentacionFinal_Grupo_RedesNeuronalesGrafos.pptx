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35a1a53e6a4369" /><Relationship Type="http://schemas.openxmlformats.org/officeDocument/2006/relationships/extended-properties" Target="/docProps/app.xml" Id="Rb805b7c381454c06" /><Relationship Type="http://schemas.openxmlformats.org/officeDocument/2006/relationships/officeDocument" Target="/ppt/presentation.xml" Id="R7c87f8ab9e1e48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4ad4af764140ea"/>
  </p:sldMasterIdLst>
  <p:notesMasterIdLst>
    <p:notesMasterId xmlns:r="http://schemas.openxmlformats.org/officeDocument/2006/relationships" r:id="R5790b37768db41c0"/>
  </p:notesMasterIdLst>
  <p:sldIdLst>
    <p:sldId xmlns:r="http://schemas.openxmlformats.org/officeDocument/2006/relationships" id="256" r:id="R78f05ac6d8c24c7e"/>
    <p:sldId xmlns:r="http://schemas.openxmlformats.org/officeDocument/2006/relationships" id="257" r:id="Rf10c775c31184fac"/>
    <p:sldId xmlns:r="http://schemas.openxmlformats.org/officeDocument/2006/relationships" id="258" r:id="R66029ee419bf4b42"/>
    <p:sldId xmlns:r="http://schemas.openxmlformats.org/officeDocument/2006/relationships" id="259" r:id="Rb6b617442cd94b30"/>
    <p:sldId xmlns:r="http://schemas.openxmlformats.org/officeDocument/2006/relationships" id="260" r:id="R13db6016773043b3"/>
    <p:sldId xmlns:r="http://schemas.openxmlformats.org/officeDocument/2006/relationships" id="261" r:id="Rfbef86b040304bde"/>
    <p:sldId xmlns:r="http://schemas.openxmlformats.org/officeDocument/2006/relationships" id="262" r:id="Raf5d279000224205"/>
    <p:sldId xmlns:r="http://schemas.openxmlformats.org/officeDocument/2006/relationships" id="263" r:id="R8551ef09867e4d74"/>
    <p:sldId xmlns:r="http://schemas.openxmlformats.org/officeDocument/2006/relationships" id="264" r:id="R6cafed9d40f04458"/>
    <p:sldId xmlns:r="http://schemas.openxmlformats.org/officeDocument/2006/relationships" id="265" r:id="Ra260cb0f67814f92"/>
    <p:sldId xmlns:r="http://schemas.openxmlformats.org/officeDocument/2006/relationships" id="266" r:id="Refc58c1d756a40c8"/>
    <p:sldId xmlns:r="http://schemas.openxmlformats.org/officeDocument/2006/relationships" id="267" r:id="Rd7b5380bc4214fe0"/>
    <p:sldId xmlns:r="http://schemas.openxmlformats.org/officeDocument/2006/relationships" id="268" r:id="R0cf58f1a17cb4a10"/>
    <p:sldId xmlns:r="http://schemas.openxmlformats.org/officeDocument/2006/relationships" id="269" r:id="R149571bb9cc5460c"/>
    <p:sldId xmlns:r="http://schemas.openxmlformats.org/officeDocument/2006/relationships" id="270" r:id="Ra545aea54e7a47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0f2074593c4ecd" /><Relationship Type="http://schemas.openxmlformats.org/officeDocument/2006/relationships/slideMaster" Target="/ppt/slideMasters/slideMaster1.xml" Id="Rf24ad4af764140ea" /><Relationship Type="http://schemas.openxmlformats.org/officeDocument/2006/relationships/notesMaster" Target="/ppt/notesMasters/notesMaster1.xml" Id="R5790b37768db41c0" /><Relationship Type="http://schemas.openxmlformats.org/officeDocument/2006/relationships/presProps" Target="/ppt/presProps.xml" Id="R402a383e0dc34cf2" /><Relationship Type="http://schemas.openxmlformats.org/officeDocument/2006/relationships/tableStyles" Target="/ppt/tableStyles.xml" Id="R608b8925726e43f7" /><Relationship Type="http://schemas.openxmlformats.org/officeDocument/2006/relationships/slide" Target="/ppt/slides/slide1.xml" Id="R78f05ac6d8c24c7e" /><Relationship Type="http://schemas.openxmlformats.org/officeDocument/2006/relationships/slide" Target="/ppt/slides/slide2.xml" Id="Rf10c775c31184fac" /><Relationship Type="http://schemas.openxmlformats.org/officeDocument/2006/relationships/slide" Target="/ppt/slides/slide3.xml" Id="R66029ee419bf4b42" /><Relationship Type="http://schemas.openxmlformats.org/officeDocument/2006/relationships/slide" Target="/ppt/slides/slide4.xml" Id="Rb6b617442cd94b30" /><Relationship Type="http://schemas.openxmlformats.org/officeDocument/2006/relationships/slide" Target="/ppt/slides/slide5.xml" Id="R13db6016773043b3" /><Relationship Type="http://schemas.openxmlformats.org/officeDocument/2006/relationships/slide" Target="/ppt/slides/slide6.xml" Id="Rfbef86b040304bde" /><Relationship Type="http://schemas.openxmlformats.org/officeDocument/2006/relationships/slide" Target="/ppt/slides/slide7.xml" Id="Raf5d279000224205" /><Relationship Type="http://schemas.openxmlformats.org/officeDocument/2006/relationships/slide" Target="/ppt/slides/slide8.xml" Id="R8551ef09867e4d74" /><Relationship Type="http://schemas.openxmlformats.org/officeDocument/2006/relationships/slide" Target="/ppt/slides/slide9.xml" Id="R6cafed9d40f04458" /><Relationship Type="http://schemas.openxmlformats.org/officeDocument/2006/relationships/slide" Target="/ppt/slides/slide10.xml" Id="Ra260cb0f67814f92" /><Relationship Type="http://schemas.openxmlformats.org/officeDocument/2006/relationships/slide" Target="/ppt/slides/slide11.xml" Id="Refc58c1d756a40c8" /><Relationship Type="http://schemas.openxmlformats.org/officeDocument/2006/relationships/slide" Target="/ppt/slides/slide12.xml" Id="Rd7b5380bc4214fe0" /><Relationship Type="http://schemas.openxmlformats.org/officeDocument/2006/relationships/slide" Target="/ppt/slides/slide13.xml" Id="R0cf58f1a17cb4a10" /><Relationship Type="http://schemas.openxmlformats.org/officeDocument/2006/relationships/slide" Target="/ppt/slides/slide14.xml" Id="R149571bb9cc5460c" /><Relationship Type="http://schemas.openxmlformats.org/officeDocument/2006/relationships/slide" Target="/ppt/slides/slide15.xml" Id="Ra545aea54e7a47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45a6e4341742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fa830d2dda46a9" /><Relationship Type="http://schemas.openxmlformats.org/officeDocument/2006/relationships/notesMaster" Target="/ppt/notesMasters/notesMaster1.xml" Id="R8933460bb59248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1090f77f444e69" /><Relationship Type="http://schemas.openxmlformats.org/officeDocument/2006/relationships/notesMaster" Target="/ppt/notesMasters/notesMaster1.xml" Id="Rf68565844c3c43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53f485f2994cf0" /><Relationship Type="http://schemas.openxmlformats.org/officeDocument/2006/relationships/notesMaster" Target="/ppt/notesMasters/notesMaster1.xml" Id="R6615b53eed354c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5a2631dc2b4265" /><Relationship Type="http://schemas.openxmlformats.org/officeDocument/2006/relationships/notesMaster" Target="/ppt/notesMasters/notesMaster1.xml" Id="Rd767e249ccb54d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85501c261948c7" /><Relationship Type="http://schemas.openxmlformats.org/officeDocument/2006/relationships/notesMaster" Target="/ppt/notesMasters/notesMaster1.xml" Id="R214aa2725e0d4f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22ea1f2afe40e3" /><Relationship Type="http://schemas.openxmlformats.org/officeDocument/2006/relationships/notesMaster" Target="/ppt/notesMasters/notesMaster1.xml" Id="Rc3bd3f98b1934f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e9d4f4c08e4cce" /><Relationship Type="http://schemas.openxmlformats.org/officeDocument/2006/relationships/notesMaster" Target="/ppt/notesMasters/notesMaster1.xml" Id="Rdec4f9891d0245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67758cfe61411f" /><Relationship Type="http://schemas.openxmlformats.org/officeDocument/2006/relationships/notesMaster" Target="/ppt/notesMasters/notesMaster1.xml" Id="R1b97a584def440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c1202dab7548cf" /><Relationship Type="http://schemas.openxmlformats.org/officeDocument/2006/relationships/notesMaster" Target="/ppt/notesMasters/notesMaster1.xml" Id="R04d4b608de2f45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1134390a2842f5" /><Relationship Type="http://schemas.openxmlformats.org/officeDocument/2006/relationships/notesMaster" Target="/ppt/notesMasters/notesMaster1.xml" Id="Rc97ce48873914c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be234042a745dd" /><Relationship Type="http://schemas.openxmlformats.org/officeDocument/2006/relationships/notesMaster" Target="/ppt/notesMasters/notesMaster1.xml" Id="R36b67748bca743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65d67f7c7c4e2b" /><Relationship Type="http://schemas.openxmlformats.org/officeDocument/2006/relationships/notesMaster" Target="/ppt/notesMasters/notesMaster1.xml" Id="Rc8bff800036d4a8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e4b9925b6a4971" /><Relationship Type="http://schemas.openxmlformats.org/officeDocument/2006/relationships/notesMaster" Target="/ppt/notesMasters/notesMaster1.xml" Id="R68a1d0b75de14a3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15b88ce8c714754" /><Relationship Type="http://schemas.openxmlformats.org/officeDocument/2006/relationships/notesMaster" Target="/ppt/notesMasters/notesMaster1.xml" Id="Rc9ae96c4936341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37775d29d0458d" /><Relationship Type="http://schemas.openxmlformats.org/officeDocument/2006/relationships/notesMaster" Target="/ppt/notesMasters/notesMaster1.xml" Id="R66fe5b38b0c24a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con la pregunta: si un dígito es un conjunto de píxeles conectados, ¿ganamos algo al modelar explícitamente esos vecinos? Presentar al grupo sin leer la lista completa.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el problema concreto antes de nombrar el modelo. Aclarar que no se entrenó con documentos costarricenses y que la relevancia nacional es una aplicación potencial, no un resultado probado.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https://arxiv.org/abs/1609.02907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Enunciar el objetivo general y usar los cuatro verbos como objetivos específicos. Anticipar que el análisis de sensibilidad será tan importante como la métrica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https://doi.org/10.6028/NIST.AI.100-1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Mencionar fuente, tamaños y el hecho de que la prueba no participa en selección. Explicar que el balance razonable permite exactitud, pero que se prioriza F1 macro.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- https://yann.lecun.com/exdb/mnist/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Leer la figura: diversidad de trazos y balance. Señalar que el centrado fuerte facilita la tarea y limita la validez externa.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leer la ecuación símbolo por símbolo. Explicar que cada paso conserva parte del píxel y agrega el promedio local. Mostrar por qué el einsum anterior daba cero: A no tenía auto-aristas y se seleccionó solo su diagonal.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https://arxiv.org/abs/1511.05493</a:t>
            </a:r>
          </a:p>
          <a:p xmlns:a="http://schemas.openxmlformats.org/drawingml/2006/main">
            <a:r>
              <a:t>- https://arxiv.org/abs/1609.02907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Defender por qué cuentan como modelos distintos: uno supone separabilidad lineal y no usa relaciones; el otro incorpora contexto local y una frontera no lineal. Reconocer que la capacidad también cambia.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https://www.deeplearningbook.org/</a:t>
            </a:r>
          </a:p>
          <a:p xmlns:a="http://schemas.openxmlformats.org/drawingml/2006/main">
            <a:r>
              <a:t>- https://arxiv.org/abs/1609.02907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la validación como un diagrama: mismo muestreo, mismos pliegues, prueba cerrada. Definir F1 macro en una frase: calcula F1 por dígito y promedia sin favorecer clases grandes.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https://scikit-learn.org/stable/modules/cross_validation.html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Decir los números en voz alta y su significado. Elegir Graph-MLP como prototipo por F1 y log-loss, pero no atribuir toda la mejora al grafo: también agrega no linealidad.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Leer filas como clase real y columnas como predicción. Señalar que los errores tienen sentido visual: cierre de bucles, inclinación y trazos parecidos. Conectar esto con revisión humana para baja confianza.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la diapositiva más importante después de resultados. Explicar tres hallazgos: L2 casi no mueve la métrica; muchos pasos causan over-smoothing; el tamaño muestral domina. Reconocer la ablación T=0.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Reconocer límites suma credibilidad. Separar privacidad de sesgo: MNIST no trae identificadores, pero la escritura vinculada a formularios sí podría ser reidentificable. Un error en montos o expedientes puede causar daño.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https://doi.org/10.6028/NIST.AI.100-1</a:t>
            </a:r>
          </a:p>
          <a:p xmlns:a="http://schemas.openxmlformats.org/drawingml/2006/main">
            <a:r>
              <a:t>- https://doi.org/10.1145/3287560.3287596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la frase final y dejar esta diapositiva visible durante preguntas. Responder objetivos: representación, comparación, sensibilidad y salvaguardas. No mostrar una diapositiva de “gracias”.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- https://doi.org/10.6028/NIST.AI.100-1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solo si preguntan por métricas adicionales o variabilidad.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si preguntan por la línea problemática o reproducibilidad. Explicar que la nueva suma de vecinos es algebraicamente D^-1 A H, pero evita construir la matriz densa.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D:/Archivo_EMILIO/Entrega_Final_GNN_MNIST/src/modelado_mnist.py</a:t>
            </a:r>
          </a:p>
          <a:p xmlns:a="http://schemas.openxmlformats.org/drawingml/2006/main">
            <a:r>
              <a:t>- D:/Archivo_EMILIO/Entrega_Final_GNN_MNIST/README.md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https://archivonacional.go.cr/
- https://www.archivonacional.go.cr/web/dsae/NTN-003_digitalizacio%CC%81n_textuales_papel_doc.pdf
- https://yann.lecun.com/exdb/mnist/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0117b47f9747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b15e0d4eb847a5" /><Relationship Type="http://schemas.openxmlformats.org/officeDocument/2006/relationships/slideLayout" Target="/ppt/slideLayouts/slideLayout1.xml" Id="R87abd9282ddd4c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abd9282ddd4c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eeb53e1044ed7" /><Relationship Type="http://schemas.openxmlformats.org/officeDocument/2006/relationships/notesSlide" Target="/ppt/notesSlides/notesSlide1.xml" Id="R2ef93b02873641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31d4750fa4e25" /><Relationship Type="http://schemas.openxmlformats.org/officeDocument/2006/relationships/notesSlide" Target="/ppt/notesSlides/notesSlide2.xml" Id="Re8b4478680764a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a6ad6aa15435c" /><Relationship Type="http://schemas.openxmlformats.org/officeDocument/2006/relationships/notesSlide" Target="/ppt/notesSlides/notesSlide3.xml" Id="Re68079c3b2fd44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2061d29b34ea6" /><Relationship Type="http://schemas.openxmlformats.org/officeDocument/2006/relationships/notesSlide" Target="/ppt/notesSlides/notesSlide4.xml" Id="Re663830952c041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bf1fd12ff4b40" /><Relationship Type="http://schemas.openxmlformats.org/officeDocument/2006/relationships/image" Target="/ppt/media/image.png" Id="R0747e2bfd50346fb" /><Relationship Type="http://schemas.openxmlformats.org/officeDocument/2006/relationships/notesSlide" Target="/ppt/notesSlides/notesSlide5.xml" Id="R25f14e3f120942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2f76d78d34e47" /><Relationship Type="http://schemas.openxmlformats.org/officeDocument/2006/relationships/notesSlide" Target="/ppt/notesSlides/notesSlide6.xml" Id="R088bace6b0c440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0078017ce4a8d" /><Relationship Type="http://schemas.openxmlformats.org/officeDocument/2006/relationships/notesSlide" Target="/ppt/notesSlides/notesSlide7.xml" Id="Rd0e3b95e467248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ee11c5c014b1b" /><Relationship Type="http://schemas.openxmlformats.org/officeDocument/2006/relationships/notesSlide" Target="/ppt/notesSlides/notesSlide8.xml" Id="R5b94f9cfe8ba47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08d5338924f87" /><Relationship Type="http://schemas.openxmlformats.org/officeDocument/2006/relationships/notesSlide" Target="/ppt/notesSlides/notesSlide9.xml" Id="R48fa441ffd7b42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1b5177a9f4d36" /><Relationship Type="http://schemas.openxmlformats.org/officeDocument/2006/relationships/image" Target="/ppt/media/image2.png" Id="R3250c75c1d314ada" /><Relationship Type="http://schemas.openxmlformats.org/officeDocument/2006/relationships/notesSlide" Target="/ppt/notesSlides/notesSlide10.xml" Id="R1f6504917c074e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16dbaf3de47d0" /><Relationship Type="http://schemas.openxmlformats.org/officeDocument/2006/relationships/chart" Target="/ppt/slides/charts/chart1.xml" Id="R3f00733970014598" /><Relationship Type="http://schemas.openxmlformats.org/officeDocument/2006/relationships/notesSlide" Target="/ppt/notesSlides/notesSlide11.xml" Id="R581e1a193a8b48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aef9335e84958" /><Relationship Type="http://schemas.openxmlformats.org/officeDocument/2006/relationships/notesSlide" Target="/ppt/notesSlides/notesSlide12.xml" Id="Rb4de14f18da94ef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d6c0d4d8c46b8" /><Relationship Type="http://schemas.openxmlformats.org/officeDocument/2006/relationships/notesSlide" Target="/ppt/notesSlides/notesSlide13.xml" Id="Re95165c93006458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301f468ff446a" /><Relationship Type="http://schemas.openxmlformats.org/officeDocument/2006/relationships/notesSlide" Target="/ppt/notesSlides/notesSlide14.xml" Id="R5aae38709c524d2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783ddc961446d" /><Relationship Type="http://schemas.openxmlformats.org/officeDocument/2006/relationships/notesSlide" Target="/ppt/notesSlides/notesSlide15.xml" Id="R9a345583af9c4dfd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F1 macro</c:v>
          </c:tx>
          <c:spPr>
            <a:ln xmlns:a="http://schemas.openxmlformats.org/drawingml/2006/main" w="47625">
              <a:solidFill>
                <a:srgbClr val="F2994A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F2994A"/>
              </a:solidFill>
            </c:spPr>
          </c:marker>
          <c:cat>
            <c:strLit>
              <c:ptCount val="3"/>
              <c:pt idx="0">
                <c:v>5k</c:v>
              </c:pt>
              <c:pt idx="1">
                <c:v>10k</c:v>
              </c:pt>
              <c:pt idx="2">
                <c:v>15k</c:v>
              </c:pt>
            </c:strLit>
          </c:cat>
          <c:val>
            <c:numLit>
              <c:formatCode>General</c:formatCode>
              <c:ptCount val="3"/>
              <c:pt idx="0">
                <c:v>88.82</c:v>
              </c:pt>
              <c:pt idx="1">
                <c:v>92.16</c:v>
              </c:pt>
              <c:pt idx="2">
                <c:v>92.59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6324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2E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7085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5"/>
          <c:min val="8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2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F1 macro (%)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5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E16AEC-D2BF-4491-A25D-0AD91BB8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E67C6-9D51-45EF-A093-DB38C531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CEAE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CEAE5"/>
                </a:solidFill>
                <a:latin typeface="Arial"/>
                <a:ea typeface="Arial"/>
                <a:cs typeface="Arial"/>
              </a:rPr>
              <a:t>DIGITALIZACIÓN DE ARCHIVOS PÚBLICOS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7806A-3417-4968-8624-EA73BC05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Clasificar dígitos con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contexto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B1E84-2B99-4583-BCE7-EC0F8B6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6712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CFE0E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FE0EC"/>
                </a:solidFill>
                <a:latin typeface="Arial"/>
                <a:ea typeface="Arial"/>
                <a:cs typeface="Arial"/>
              </a:rPr>
              <a:t>Prototipo OCR · Softmax vs. Graph-MLP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50B1B-1676-4DE1-AA40-99E33F66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54211-EE6C-46AC-9C07-75A251C9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Diego Díaz · Bairon Horna · Ignacio Marín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Jordan López · Aaron Medrano · Emilio de Gomez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B7F75-6CCE-4946-9BAD-03DEA57C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FE0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0EC"/>
                </a:solidFill>
                <a:latin typeface="Arial"/>
                <a:ea typeface="Arial"/>
                <a:cs typeface="Arial"/>
              </a:rPr>
              <a:t>BCD5105 Modelado matemático · Lead University · 19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10137512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078D10-5BC0-47E7-89FC-8495931E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FABEFA-E66B-49A3-A283-08FD8E17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Fechas, folios y montos dependen de trazos completos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684E5-5548-4E48-A851-E5A4D350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93A34-4489-4179-9990-F510661A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Un dígito es una 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F7233-1CE7-4DAF-906E-CE7C6E84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Cada píxel es un nodo. Las aristas conectan ocho vecinos. El patrón útil está en la continuidad del trazo.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50C347-1A98-4036-A7C5-FBC28DBB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953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7239000" y="2381250"/>
            <a:ext cx="1333500" cy="95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0" name=""/>
          <p:cNvCxnSpPr/>
          <p:nvPr/>
        </p:nvCxnSpPr>
        <p:spPr>
          <a:xfrm xmlns:a="http://schemas.openxmlformats.org/drawingml/2006/main">
            <a:off x="8572500" y="2381250"/>
            <a:ext cx="133350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1" name=""/>
          <p:cNvCxnSpPr/>
          <p:nvPr/>
        </p:nvCxnSpPr>
        <p:spPr>
          <a:xfrm xmlns:a="http://schemas.openxmlformats.org/drawingml/2006/main">
            <a:off x="7239000" y="2476500"/>
            <a:ext cx="28575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2" name=""/>
          <p:cNvCxnSpPr/>
          <p:nvPr/>
        </p:nvCxnSpPr>
        <p:spPr>
          <a:xfrm xmlns:a="http://schemas.openxmlformats.org/drawingml/2006/main">
            <a:off x="7524750" y="2381250"/>
            <a:ext cx="104775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3" name=""/>
          <p:cNvCxnSpPr/>
          <p:nvPr/>
        </p:nvCxnSpPr>
        <p:spPr>
          <a:xfrm xmlns:a="http://schemas.openxmlformats.org/drawingml/2006/main">
            <a:off x="8572500" y="2381250"/>
            <a:ext cx="28575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4" name=""/>
          <p:cNvCxnSpPr/>
          <p:nvPr/>
        </p:nvCxnSpPr>
        <p:spPr>
          <a:xfrm xmlns:a="http://schemas.openxmlformats.org/drawingml/2006/main">
            <a:off x="8858250" y="2667000"/>
            <a:ext cx="104775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5" name=""/>
          <p:cNvCxnSpPr/>
          <p:nvPr/>
        </p:nvCxnSpPr>
        <p:spPr>
          <a:xfrm xmlns:a="http://schemas.openxmlformats.org/drawingml/2006/main">
            <a:off x="9906000" y="2667000"/>
            <a:ext cx="28575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6" name=""/>
          <p:cNvCxnSpPr/>
          <p:nvPr/>
        </p:nvCxnSpPr>
        <p:spPr>
          <a:xfrm xmlns:a="http://schemas.openxmlformats.org/drawingml/2006/main">
            <a:off x="7524750" y="37147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67" name=""/>
          <p:cNvCxnSpPr/>
          <p:nvPr/>
        </p:nvCxnSpPr>
        <p:spPr>
          <a:xfrm xmlns:a="http://schemas.openxmlformats.org/drawingml/2006/main">
            <a:off x="8858250" y="3714750"/>
            <a:ext cx="133350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D1152A-08FA-47C3-ACB4-A14499F6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05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B0CBBA-9C5A-4418-87A6-507E2B7C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9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6B1A1-0B77-4821-8BE5-74A94376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95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31CE7A-B293-4FCB-A65E-028712B7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30987B-3CF2-4964-A3B1-BFB2EECA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C7BC70-F71C-4724-B139-4821A94D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33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BC328F-8B51-49EF-A6FF-99967FE3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Aplicación propuesta: protocolos, formularios y expedientes en papel. MNIST es solo el banco de prueba.</a:t>
            </a:r>
          </a:p>
        </p:txBody>
      </p:sp>
    </p:spTree>
    <p:extLst>
      <p:ext uri="{BB962C8B-B14F-4D97-AF65-F5344CB8AC3E}">
        <p14:creationId xmlns:p14="http://schemas.microsoft.com/office/powerpoint/2010/main" val="189707012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EE2628-279E-43E5-A6A2-284B771A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1BFC6-038C-41C9-AEE4-B361B643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El prototipo se evalúa antes de tocar un expediente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A2F002-05F5-49E7-80B2-68B02457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4129D-87FB-4FEA-BF62-ED5C89FB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¿El contexto local mejora el reconocimiento de dígitos y qué falta para validarlo en archivos públicos?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E7BE0E-6F0A-439A-BEE5-89232729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B949D-0A4E-4367-BD9A-D45670F0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98B35-B0A5-4CA3-8B67-15C650EC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Representar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9F910-8F86-4D32-9D58-7BC38FBC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Dígitos como grafos de 784 nodos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A75AF-E6E9-432E-B09B-833161B3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BB6C8-5B36-4EA7-BB01-A406EE24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80DF7-CA19-41CA-A4B2-A2731933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Comparar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712F7-5B02-4288-9C05-41E3325C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Softmax y Graph-MLP bajo la misma prueba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E22C8-F511-491A-9119-CC159C08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F56F3-D860-4F7B-87E0-853E9B59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5058F-2A25-460D-B0DB-D1A0C030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Validar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63DD69-4BB5-411A-9F08-033A2A99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F1, pérdida y validación común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A44914-30E3-41C3-B799-7D5B4159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A35148-2548-463F-995A-BE5103AE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C0BDF-10B0-4B91-AD2A-E5D2C866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Tensionar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1C1E47-5451-4D4A-8B0B-5C0706C0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L2, propagación, datos y controles</a:t>
            </a:r>
          </a:p>
        </p:txBody>
      </p:sp>
    </p:spTree>
    <p:extLst>
      <p:ext uri="{BB962C8B-B14F-4D97-AF65-F5344CB8AC3E}">
        <p14:creationId xmlns:p14="http://schemas.microsoft.com/office/powerpoint/2010/main" val="12799080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8563C-22FB-4267-A985-E1D8A772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CDA9C-F43D-4785-897C-33B0645F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70,000 imágenes; la prueba oficial queda cerrada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C59F0-5CF8-4593-880B-D992F4F5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7143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85938"/>
                <a:gridCol w="1785938"/>
                <a:gridCol w="1785938"/>
                <a:gridCol w="1785938"/>
              </a:tblGrid>
              <a:tr h="6286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Forma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Rango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x_train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60,000×28×28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0–255 → [0,1]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Ajuste / CV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y_train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60,000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Etiqueta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x_test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10,000×28×28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0–255 → [0,1]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Prueba final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y_test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10,000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Referencia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44540-F75F-426C-9527-64B01C4D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76375"/>
            <a:ext cx="3048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A8A45-686C-40C1-B234-288ADCDB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1.24×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D5369-1196-4017-8351-33D7A7AF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clase mayor / menor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DC169-EDB6-4626-8CB0-72B6FFB7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90875"/>
            <a:ext cx="3048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1AE5A-D3DF-4AB6-8ED1-2DB2F376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0CC0E-88D9-4C04-8188-8B9FBF70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semilla fija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31060-1B51-4C34-A6B8-0E805A5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Sin faltantes, sin imputación y sin usar etiquetas durante la propagación.</a:t>
            </a:r>
          </a:p>
        </p:txBody>
      </p:sp>
    </p:spTree>
    <p:extLst>
      <p:ext uri="{BB962C8B-B14F-4D97-AF65-F5344CB8AC3E}">
        <p14:creationId xmlns:p14="http://schemas.microsoft.com/office/powerpoint/2010/main" val="164346028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F9111-8A0A-4395-922D-0DBCBC04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799C8-5C36-4B70-8751-10CD11B5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Las clases están balanceadas y los trazos conservan geometría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D9F5A-E309-4350-98D1-591FD8A8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7e2bfd50346fb"/>
          <a:stretch xmlns:a="http://schemas.openxmlformats.org/drawingml/2006/main"/>
        </p:blipFill>
        <p:spPr>
          <a:xfrm xmlns:a="http://schemas.openxmlformats.org/drawingml/2006/main">
            <a:off x="2159000" y="1381125"/>
            <a:ext cx="7874000" cy="4429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FDB6C-AEB4-411A-868B-BE0F0786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38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La clase 1 tiene 6,742 ejemplos; la 5, 5,421. Las diagonales justifican ocho vecinos.</a:t>
            </a:r>
          </a:p>
        </p:txBody>
      </p:sp>
    </p:spTree>
    <p:extLst>
      <p:ext uri="{BB962C8B-B14F-4D97-AF65-F5344CB8AC3E}">
        <p14:creationId xmlns:p14="http://schemas.microsoft.com/office/powerpoint/2010/main" val="17519625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599E72-AA25-4308-A415-9D1197EE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AB893-669A-453F-8EEE-F4E433C0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Dos pasos mezclan señal propia y vecindad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96447-21AD-4262-8F32-2BAE918E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25339-4F8B-42A4-93A3-38F73E57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53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C247E-97B2-4DE4-9448-C5DE8BDD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H(t+1) = (1 − α)H(t) + α D⁻¹ A H(t)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E6A4F-6A14-471C-B023-E884D7F8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H(0)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ADA65-9C9F-4695-BD3E-0FEB7B66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Intensidad del píxel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9E8E5-B115-45DB-A8E6-DA292F62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D⁻¹AH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6E9253-2BEF-4DA5-B41D-1FF0836E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Promedio de ocho vecinos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7B913-C4AC-4B0B-A2A6-1EC0C37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α = 0.35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368B41-D14C-4F6C-8FA9-9E269975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Conserva 65% propio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5B451-2330-4C5D-BE5A-8B9D5047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T =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359B-A39C-4827-ADE8-B9E97671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Evita sobre-suavizado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C7860-95FA-4DB2-96AC-B94C145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8637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El prototipo original usó einsum('nn,…'): tomó la diagonal nula de A y eliminó todos los mensajes.</a:t>
            </a:r>
          </a:p>
        </p:txBody>
      </p:sp>
    </p:spTree>
    <p:extLst>
      <p:ext uri="{BB962C8B-B14F-4D97-AF65-F5344CB8AC3E}">
        <p14:creationId xmlns:p14="http://schemas.microsoft.com/office/powerpoint/2010/main" val="5566236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C9576-8155-449C-B105-5EE043D0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5C78C8-E05A-41AA-906B-40A01CAB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Los modelos parten de supuestos distintos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1CB081-0951-4639-8E2E-946743B5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7C614-7622-4049-92CD-BE784081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51435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9C9956-70D7-466C-BD65-A5258762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Softmax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BEE6F-7CBF-427A-A789-A7C14603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Frontera lineal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DE54C-6671-41E5-B237-C8AA6A05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4095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784 intensidades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7,850 parámetros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L2 = 10⁻⁴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Adam, lr = 0.002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12310-C7E1-4018-8956-CD7BB9EE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476375"/>
            <a:ext cx="51435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EB421-CC9D-4B7B-925B-C12879B1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Graph-MLP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210E6-F1E2-4733-956C-2A22459F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76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Contexto local + ReLU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C7EAD3-7496-4939-8885-140FF34D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4095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Propagación T = 2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64 unidades ocultas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≈ 50,900 parámetros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Adam, lr = 0.001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E51D9-F8CF-4B34-8639-BB862595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150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Ambos: 12 épocas · lotes de 256 · semilla 2026</a:t>
            </a:r>
          </a:p>
        </p:txBody>
      </p:sp>
    </p:spTree>
    <p:extLst>
      <p:ext uri="{BB962C8B-B14F-4D97-AF65-F5344CB8AC3E}">
        <p14:creationId xmlns:p14="http://schemas.microsoft.com/office/powerpoint/2010/main" val="18414992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26098-46D0-42D9-845E-5E76DEA8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2ABCA-8468-4C54-B011-08616396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comparación usa los mismos pliegues y la misma prueba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27474-893A-4E8B-B58E-39E53F0B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3143250" y="319087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3A89E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6381750" y="319087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3A89E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E2974-EF45-48B5-B33D-D6960024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2333625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8175C7-E92C-4EDD-BB99-053CE9B7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28875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1A1A8E-F7D3-4061-88A4-C6CE8F31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90875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12,000 estratificados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065FB-E34F-4999-AC34-547990C6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147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muestra para CV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9BCC0-AFC4-45CA-8E02-FF432374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190750"/>
            <a:ext cx="2333625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31FF9-F940-49E2-97EC-55E6DF9B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D2A7F-5EAD-49D4-8294-799B6127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90875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3 pliegues comunes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A19AB-B25E-4D07-A48F-ED740C27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147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cada dato valida una vez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68C280-0056-4A9D-9B80-7B9BE8B3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190750"/>
            <a:ext cx="2333625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4788AF-2B40-4A14-AFCB-97EFA0D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8875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1BB11-68FF-480E-8392-73C013F6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90875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10,000 de prueba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70BEC3-F8BB-4354-987D-49BEFF30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147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evaluación final única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C12E1F-74B6-44B3-8100-478B0CA6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95875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Métrica principal: F1 macro · Apoyo: exactitud, precisión, exhaustividad y log-loss</a:t>
            </a:r>
          </a:p>
        </p:txBody>
      </p:sp>
    </p:spTree>
    <p:extLst>
      <p:ext uri="{BB962C8B-B14F-4D97-AF65-F5344CB8AC3E}">
        <p14:creationId xmlns:p14="http://schemas.microsoft.com/office/powerpoint/2010/main" val="19159069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84807-3FD1-42BE-9CF9-E0CE8277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E4564-C57D-498F-929D-FCE4FE25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Graph-MLP gana 3.31 puntos de F1 en prueba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39096-AB1D-424C-BAFE-FB2F6C16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11144250" cy="2095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28850"/>
                <a:gridCol w="2228850"/>
                <a:gridCol w="2228850"/>
                <a:gridCol w="2228850"/>
                <a:gridCol w="2228850"/>
              </a:tblGrid>
              <a:tr h="6985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F1 macro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Exactitud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 prueba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Log-loss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Softmax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89.02% ± 0.22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92.30%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92.19%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0.280</a:t>
                      </a:r>
                    </a:p>
                  </a:txBody>
                  <a:tcPr marL="91440" marR="91440" marT="45720" marB="45720"/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Graph-MLP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91.32% ± 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95.56%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95.51%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0.152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204DE-316C-4D66-AF8E-A47FD068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3143250" cy="1476375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331A8-CE53-4C67-9589-DAAAEFD3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+3.31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12DAB-934F-4BF5-A141-2A84B0CE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puntos de F1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822DB-7831-4743-995A-D83FDD58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095750"/>
            <a:ext cx="3143250" cy="1476375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B2182-C53D-41AF-A85B-AF4C8705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86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−45.7%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7E5A7-2F25-48E9-BB30-3C591302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953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pérdida logarítmica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6DC34-78F1-4F6A-A4D9-17201418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3143250" cy="1476375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ECE88-B950-423F-998E-68438B46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3830F-0C42-4D3C-9F8F-B3CCD037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953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pliegues favorables</a:t>
            </a:r>
          </a:p>
        </p:txBody>
      </p:sp>
    </p:spTree>
    <p:extLst>
      <p:ext uri="{BB962C8B-B14F-4D97-AF65-F5344CB8AC3E}">
        <p14:creationId xmlns:p14="http://schemas.microsoft.com/office/powerpoint/2010/main" val="12372161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27C3DF-9F4D-481D-A8C7-52715844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C21B0-8BAA-4422-B414-7275B132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4 ↔ 9 sigue siendo la confusión más persistente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DB05C-E9EA-45B4-8479-8D25BE89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0c75c1d314ada"/>
          <a:stretch xmlns:a="http://schemas.openxmlformats.org/drawingml/2006/main"/>
        </p:blipFill>
        <p:spPr>
          <a:xfrm xmlns:a="http://schemas.openxmlformats.org/drawingml/2006/main">
            <a:off x="523875" y="1384102"/>
            <a:ext cx="7524750" cy="42326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BF377-9EE7-4E95-A716-D08D28B2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A4E18-77D1-47A6-B1E4-66E65510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52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Errores principales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3297A-2CF9-4E8C-91C0-178F6AAC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14625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 → 9   28 casos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 → 4   28 casos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8 → 5   21 casos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 → 5   15 casos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0ECBC-1A02-406E-8F78-625F86D4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7212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La clase 5 mejora de 88.8% a 95.1% de aciertos.</a:t>
            </a:r>
          </a:p>
        </p:txBody>
      </p:sp>
    </p:spTree>
    <p:extLst>
      <p:ext uri="{BB962C8B-B14F-4D97-AF65-F5344CB8AC3E}">
        <p14:creationId xmlns:p14="http://schemas.microsoft.com/office/powerpoint/2010/main" val="29784994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24B06A-51AB-4D09-8FC3-974E6993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F81AD-F782-426F-AF0E-26F983EE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Más datos ayudan; más propagación termina suavizando de más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CF3CB-C9A1-4AE0-9329-F2AC5549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6191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0073397001459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AFA92-494D-472C-A72B-2BCFB65B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4000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324162-D6D5-42C7-8A9C-58A144CF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573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L2 es estable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92E47-9569-4B8C-A598-BB83D0C9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92.51% → 92.37%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ABE29-881A-45C9-824B-5E8D728B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000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367C4-3490-47E9-B495-4C34785C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718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T = 0 supera T =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481805-689A-4669-8DD4-B101E543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92.73% → 92.21%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no linealidad aporta más que el suavizado fijo.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289F9-6F86-41B4-AFD2-1B0C5C3C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150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Conclusión: el modelo es robusto a L2, pero frágil cuando faltan datos.</a:t>
            </a:r>
          </a:p>
        </p:txBody>
      </p:sp>
    </p:spTree>
    <p:extLst>
      <p:ext uri="{BB962C8B-B14F-4D97-AF65-F5344CB8AC3E}">
        <p14:creationId xmlns:p14="http://schemas.microsoft.com/office/powerpoint/2010/main" val="22666129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E1E46-C71B-4BE8-9586-B474FBBD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750023-C480-4FD9-BFBF-2D8F7D2E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95.5% en MNIST no autoriza migrar un archivo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C45E2-51AB-4407-9820-27147395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AC3AF-E90A-4266-B063-13AA3F4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519112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185BE-CA11-4577-9317-B9B8689B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Limitaciones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27B2F-155E-4966-805D-4B604005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381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Dígitos centrados y limpios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Sin escritura costarricense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Propagación fija, no GNN aprendible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Comparación mezcla grafo y no linealidad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Sin auditoría demográfica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7802A-907B-40F5-9DDC-980FE30F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76375"/>
            <a:ext cx="519112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512F0-3B33-42A9-B7F9-1E6EEBDD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097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Salvaguardas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7F900-BE3C-4382-9A34-602D726F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571750"/>
            <a:ext cx="4381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Validación local por fuente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Umbral de rechazo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Revisión humana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Conservación de imagen original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Monitoreo de deriva y subgrupos</a:t>
            </a:r>
          </a:p>
        </p:txBody>
      </p:sp>
    </p:spTree>
    <p:extLst>
      <p:ext uri="{BB962C8B-B14F-4D97-AF65-F5344CB8AC3E}">
        <p14:creationId xmlns:p14="http://schemas.microsoft.com/office/powerpoint/2010/main" val="188484143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B5F8E-D4B5-4FF6-BEAE-0A259A58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B25BE1-642C-4F6B-9D07-0C21D31D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siguiente inversión debe ser en archivos locales etiquetados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1087C-A3D0-4A17-8F06-49617F22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1B777-F57A-4F68-BC61-63B303D7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Conclusión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14AAA-6DA2-4FA8-A63C-3EDEBF75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Graph-MLP mejora F1 y log-loss en MNIST; todavía no demuestra fidelidad sobre documentos públicos.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8EA7A-0453-4909-BC24-60C7EE8F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7637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Recomendación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E7540-17D1-4FAD-910E-E6E5186D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Etiquetar 1,000–5,000 recortes de una serie pública, comparar modelos y exigir revisión humana.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1B3A9-CA33-4C68-99B1-6160E91F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1085850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D2538"/>
          </a:solidFill>
          <a:ln xmlns:a="http://schemas.openxmlformats.org/drawingml/2006/main" w="9525">
            <a:solidFill>
              <a:srgbClr val="0D25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7101A-C327-4A4F-A924-3D5F0AB4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720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Digitalizar no es borrar el papel: es preservar, transcribir y poder auditar.</a:t>
            </a:r>
          </a:p>
        </p:txBody>
      </p:sp>
    </p:spTree>
    <p:extLst>
      <p:ext uri="{BB962C8B-B14F-4D97-AF65-F5344CB8AC3E}">
        <p14:creationId xmlns:p14="http://schemas.microsoft.com/office/powerpoint/2010/main" val="29759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F55C30-5525-4117-B759-DE2B1DDB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8B432-E21D-4783-AC7E-402D0AC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Respaldo · métricas completas y variabilidad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E5780-A162-42D5-A8AF-B98CF27B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428625" y="1381125"/>
          <a:ext xmlns:a="http://schemas.openxmlformats.org/drawingml/2006/main" cx="11334750" cy="2286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89125"/>
                <a:gridCol w="1889125"/>
                <a:gridCol w="1889125"/>
                <a:gridCol w="1889125"/>
                <a:gridCol w="1889125"/>
                <a:gridCol w="1889125"/>
              </a:tblGrid>
              <a:tr h="7620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exactitud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F1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Prueba precisión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Prueba recall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Prueba log-loss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Softmax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89.06% ± 0.22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89.02% ± 0.22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92.19%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92.22%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0.280</a:t>
                      </a:r>
                    </a:p>
                  </a:txBody>
                  <a:tcPr marL="91440" marR="91440" marT="45720" marB="45720"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Graph-MLP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91.35% ± 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91.32% ± 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0.152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D776F-243F-4F2E-AB8C-9DA2697B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862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desviación estándar entre pliegues es menor a 0.4 puntos para ambos modelos.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43177-901D-4273-8720-56F29A74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Semilla 2026 · CV estratificada · mismos índices · prueba oficial intacta</a:t>
            </a:r>
          </a:p>
        </p:txBody>
      </p:sp>
    </p:spTree>
    <p:extLst>
      <p:ext uri="{BB962C8B-B14F-4D97-AF65-F5344CB8AC3E}">
        <p14:creationId xmlns:p14="http://schemas.microsoft.com/office/powerpoint/2010/main" val="167923357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24F35-B36E-43E1-8755-B89F9379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EEEAF-41E3-4C0B-A933-A40B40AF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Respaldo · corrección, reproducción y alcance archivístico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434BC-2D2F-44DC-A2B1-6CDF7484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9748D6-57FB-4F24-8EC1-55879F31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Error original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AEA91-253F-4B9F-B5E5-5E6F633C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4762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33E41-6669-4DD2-ADBB-734E4F04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einsum('nn,bnf→bnf')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seleccionaba diag(A)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C90C8-AA23-4132-9306-DABA6A9C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76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Corrección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2CB9FF-0CBC-4C5D-9930-7988974A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47875"/>
            <a:ext cx="4762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EF2E4-70B9-4BD8-A71C-CE8A522F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336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Suma de ocho vecinos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+ normalización por grado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F072C-D854-42C7-81F6-06D6F9A0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Orden de ejecución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BE1FB-FFE0-499D-B591-C836E180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F80ED"/>
                </a:solidFill>
                <a:latin typeface="Arial"/>
                <a:ea typeface="Arial"/>
                <a:cs typeface="Arial"/>
              </a:rPr>
              <a:t>01_exploracion.ipynb → 02_modelos.ipynb → 03_validacion.ipynb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EB68B5-0539-4500-9015-A7CDF09A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292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Sin rutas personales · datos incluidos · README · LICENSE · revisión humana</a:t>
            </a:r>
          </a:p>
        </p:txBody>
      </p:sp>
    </p:spTree>
    <p:extLst>
      <p:ext uri="{BB962C8B-B14F-4D97-AF65-F5344CB8AC3E}">
        <p14:creationId xmlns:p14="http://schemas.microsoft.com/office/powerpoint/2010/main" val="17453936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2026-08-20T02:07:54.4210000Z</dcterms:created>
  <dcterms:modified xsi:type="dcterms:W3CDTF">2026-08-20T02:07:54.4210000Z</dcterms:modified>
</coreProperties>
</file>